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1" d="100"/>
          <a:sy n="131" d="100"/>
        </p:scale>
        <p:origin x="101" y="2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bubble3D val="0"/>
            <c:spPr>
              <a:solidFill>
                <a:srgbClr val="1E9E57"/>
              </a:solidFill>
            </c:spPr>
            <c:extLst>
              <c:ext xmlns:c16="http://schemas.microsoft.com/office/drawing/2014/chart" uri="{C3380CC4-5D6E-409C-BE32-E72D297353CC}">
                <c16:uniqueId val="{00000001-A047-4C26-836A-E6097E47F918}"/>
              </c:ext>
            </c:extLst>
          </c:dPt>
          <c:dPt>
            <c:idx val="1"/>
            <c:bubble3D val="0"/>
            <c:spPr>
              <a:solidFill>
                <a:srgbClr val="1F6FE0"/>
              </a:solidFill>
            </c:spPr>
            <c:extLst>
              <c:ext xmlns:c16="http://schemas.microsoft.com/office/drawing/2014/chart" uri="{C3380CC4-5D6E-409C-BE32-E72D297353CC}">
                <c16:uniqueId val="{00000003-A047-4C26-836A-E6097E47F918}"/>
              </c:ext>
            </c:extLst>
          </c:dPt>
          <c:dPt>
            <c:idx val="2"/>
            <c:bubble3D val="0"/>
            <c:spPr>
              <a:solidFill>
                <a:srgbClr val="CF8A00"/>
              </a:solidFill>
            </c:spPr>
            <c:extLst>
              <c:ext xmlns:c16="http://schemas.microsoft.com/office/drawing/2014/chart" uri="{C3380CC4-5D6E-409C-BE32-E72D297353CC}">
                <c16:uniqueId val="{00000005-A047-4C26-836A-E6097E47F918}"/>
              </c:ext>
            </c:extLst>
          </c:dPt>
          <c:cat>
            <c:strRef>
              <c:f>Sheet1!$A$2:$A$4</c:f>
              <c:strCache>
                <c:ptCount val="3"/>
                <c:pt idx="0">
                  <c:v>Selesai</c:v>
                </c:pt>
                <c:pt idx="1">
                  <c:v>To Do</c:v>
                </c:pt>
                <c:pt idx="2">
                  <c:v>Working/Review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4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047-4C26-836A-E6097E47F9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bubble3D val="0"/>
            <c:spPr>
              <a:solidFill>
                <a:srgbClr val="1E9E57"/>
              </a:solidFill>
            </c:spPr>
            <c:extLst>
              <c:ext xmlns:c16="http://schemas.microsoft.com/office/drawing/2014/chart" uri="{C3380CC4-5D6E-409C-BE32-E72D297353CC}">
                <c16:uniqueId val="{00000001-1C10-4573-9699-256EC94F863E}"/>
              </c:ext>
            </c:extLst>
          </c:dPt>
          <c:dPt>
            <c:idx val="1"/>
            <c:bubble3D val="0"/>
            <c:spPr>
              <a:solidFill>
                <a:srgbClr val="E7DFD0"/>
              </a:solidFill>
            </c:spPr>
            <c:extLst>
              <c:ext xmlns:c16="http://schemas.microsoft.com/office/drawing/2014/chart" uri="{C3380CC4-5D6E-409C-BE32-E72D297353CC}">
                <c16:uniqueId val="{00000003-1C10-4573-9699-256EC94F863E}"/>
              </c:ext>
            </c:extLst>
          </c:dPt>
          <c:cat>
            <c:strRef>
              <c:f>Sheet1!$A$2:$A$3</c:f>
              <c:strCache>
                <c:ptCount val="2"/>
                <c:pt idx="0">
                  <c:v>Valid</c:v>
                </c:pt>
                <c:pt idx="1">
                  <c:v>Tidak Valid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C10-4573-9699-256EC94F86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2026-06-17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2026-06-17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2026-06-17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2026-06-17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2026-06-17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2026-06-17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2026-06-17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2026-06-17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2026-06-17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2026-06-17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2026-06-17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2026-06-17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" y="77724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1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786384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5E6E86"/>
                </a:solidFill>
                <a:latin typeface="Calibri"/>
              </a:rPr>
              <a:t>UNIVERSITAS TEKNOLOGI YOGYAKARTA</a:t>
            </a:r>
          </a:p>
          <a:p>
            <a:pPr algn="l"/>
            <a:r>
              <a:rPr sz="1150" b="0" i="0">
                <a:solidFill>
                  <a:srgbClr val="5E6E86"/>
                </a:solidFill>
                <a:latin typeface="Calibri"/>
              </a:rPr>
              <a:t>Prodi Sistem Informasi - Program Sarjana - 2026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C88600"/>
                </a:solidFill>
                <a:latin typeface="Calibri"/>
              </a:rPr>
              <a:t>SIDANG TUGAS AKHIR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6070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3294B"/>
                </a:solidFill>
                <a:latin typeface="Georgia"/>
              </a:rPr>
              <a:t>Pengembangan Fitur </a:t>
            </a:r>
            <a:r>
              <a:rPr sz="3000" b="1" i="0">
                <a:solidFill>
                  <a:srgbClr val="1F6FE0"/>
                </a:solidFill>
                <a:latin typeface="Georgia"/>
              </a:rPr>
              <a:t>Dashboard</a:t>
            </a:r>
            <a:r>
              <a:rPr sz="3000" b="1" i="0">
                <a:solidFill>
                  <a:srgbClr val="13294B"/>
                </a:solidFill>
                <a:latin typeface="Georgia"/>
              </a:rPr>
              <a:t> pada Sistem Manajemen Proyek 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3000" b="1" i="0">
                <a:solidFill>
                  <a:srgbClr val="13294B"/>
                </a:solidFill>
                <a:latin typeface="Georgia"/>
              </a:rPr>
              <a:t>Berdasarkan </a:t>
            </a:r>
            <a:r>
              <a:rPr sz="3000" b="1" i="0">
                <a:solidFill>
                  <a:srgbClr val="C88600"/>
                </a:solidFill>
                <a:latin typeface="Georgia"/>
              </a:rPr>
              <a:t>Data Laporan Harian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11480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>
                <a:solidFill>
                  <a:srgbClr val="5E6E86"/>
                </a:solidFill>
                <a:latin typeface="Calibri"/>
              </a:rPr>
              <a:t>Early Warning System (EWS) berbasis Schedule Performance Index  -  Studi Kasus: PT Smart Home Inovasi, Yogyakarta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4800600"/>
            <a:ext cx="182880" cy="182880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2144" y="4800600"/>
            <a:ext cx="182880" cy="182880"/>
          </a:xfrm>
          <a:prstGeom prst="ellipse">
            <a:avLst/>
          </a:prstGeom>
          <a:solidFill>
            <a:srgbClr val="C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463040" y="4800600"/>
            <a:ext cx="182880" cy="182880"/>
          </a:xfrm>
          <a:prstGeom prst="ellipse">
            <a:avLst/>
          </a:prstGeom>
          <a:solidFill>
            <a:srgbClr val="D3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5440680"/>
            <a:ext cx="3383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5E6E86"/>
                </a:solidFill>
                <a:latin typeface="Calibri"/>
              </a:rPr>
              <a:t>PENYUSUN</a:t>
            </a:r>
          </a:p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16233A"/>
                </a:solidFill>
                <a:latin typeface="Calibri"/>
              </a:rPr>
              <a:t>Dian Putri Iswandi</a:t>
            </a:r>
          </a:p>
          <a:p>
            <a:pPr algn="l"/>
            <a:r>
              <a:rPr sz="1100" b="0" i="0">
                <a:solidFill>
                  <a:srgbClr val="5E6E86"/>
                </a:solidFill>
                <a:latin typeface="Consolas"/>
              </a:rPr>
              <a:t>NPM 5220311118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5440680"/>
            <a:ext cx="3383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5E6E86"/>
                </a:solidFill>
                <a:latin typeface="Calibri"/>
              </a:rPr>
              <a:t>DOSEN PEMBIMBING</a:t>
            </a:r>
          </a:p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16233A"/>
                </a:solidFill>
                <a:latin typeface="Calibri"/>
              </a:rPr>
              <a:t>Adityo Permana Wibowo, S.Kom., M.Cs.</a:t>
            </a:r>
          </a:p>
          <a:p>
            <a:pPr algn="l"/>
            <a:endParaRPr sz="1400" b="1" i="0">
              <a:solidFill>
                <a:srgbClr val="16233A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73568" y="5440680"/>
            <a:ext cx="3383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5E6E86"/>
                </a:solidFill>
                <a:latin typeface="Calibri"/>
              </a:rPr>
              <a:t>STUDI KASUS</a:t>
            </a:r>
          </a:p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16233A"/>
                </a:solidFill>
                <a:latin typeface="Calibri"/>
              </a:rPr>
              <a:t>PT Smart Home Inovasi - IoT</a:t>
            </a:r>
          </a:p>
          <a:p>
            <a:pPr algn="l"/>
            <a:endParaRPr sz="1400" b="1" i="0">
              <a:solidFill>
                <a:srgbClr val="16233A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430000" y="25603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A9B6C8"/>
                </a:solidFill>
                <a:latin typeface="Consolas"/>
              </a:rPr>
              <a:t>01/15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5720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1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20624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3294B"/>
                </a:solidFill>
                <a:latin typeface="Georgia"/>
              </a:rPr>
              <a:t>Deskripsi Perusahaan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074920" cy="429768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8680" y="155448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eorgia"/>
              </a:rPr>
              <a:t>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17904"/>
            <a:ext cx="4023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16233A"/>
                </a:solidFill>
                <a:latin typeface="Georgia"/>
              </a:rPr>
              <a:t>PT Smart Home Inovasi</a:t>
            </a:r>
          </a:p>
          <a:p>
            <a:pPr algn="l"/>
            <a:r>
              <a:rPr sz="1200" b="0" i="0">
                <a:solidFill>
                  <a:srgbClr val="5E6E86"/>
                </a:solidFill>
                <a:latin typeface="Calibri"/>
              </a:rPr>
              <a:t>Sleman, Daerah Istimewa Yogyakarta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44348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6233A"/>
                </a:solidFill>
                <a:latin typeface="Calibri"/>
              </a:rPr>
              <a:t>Perusahaan teknologi </a:t>
            </a:r>
            <a:r>
              <a:rPr sz="1400" b="1" i="0">
                <a:solidFill>
                  <a:srgbClr val="16233A"/>
                </a:solidFill>
                <a:latin typeface="Calibri"/>
              </a:rPr>
              <a:t>Smart Home &amp; Internet of Things (IoT)</a:t>
            </a:r>
            <a:r>
              <a:rPr sz="1400" b="0" i="0">
                <a:solidFill>
                  <a:srgbClr val="16233A"/>
                </a:solidFill>
                <a:latin typeface="Calibri"/>
              </a:rPr>
              <a:t>: instalasi perangkat pintar, integrasi sistem, smart lighting &amp; security untuk hunian dan bisnis.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886200"/>
            <a:ext cx="1285646" cy="365760"/>
          </a:xfrm>
          <a:prstGeom prst="roundRect">
            <a:avLst>
              <a:gd name="adj" fmla="val 50000"/>
            </a:avLst>
          </a:prstGeom>
          <a:solidFill>
            <a:srgbClr val="E9F0FA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886200"/>
            <a:ext cx="128564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4FA8"/>
                </a:solidFill>
                <a:latin typeface="Calibri"/>
              </a:rPr>
              <a:t>Instalasi IoT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18918" y="3886200"/>
            <a:ext cx="1510588" cy="365760"/>
          </a:xfrm>
          <a:prstGeom prst="roundRect">
            <a:avLst>
              <a:gd name="adj" fmla="val 50000"/>
            </a:avLst>
          </a:prstGeom>
          <a:solidFill>
            <a:srgbClr val="E9F0FA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18918" y="3886200"/>
            <a:ext cx="15105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4FA8"/>
                </a:solidFill>
                <a:latin typeface="Calibri"/>
              </a:rPr>
              <a:t>Integrasi Sistem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94099" y="3886200"/>
            <a:ext cx="1360627" cy="365760"/>
          </a:xfrm>
          <a:prstGeom prst="roundRect">
            <a:avLst>
              <a:gd name="adj" fmla="val 50000"/>
            </a:avLst>
          </a:prstGeom>
          <a:solidFill>
            <a:srgbClr val="E9F0FA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94099" y="3886200"/>
            <a:ext cx="136062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4FA8"/>
                </a:solidFill>
                <a:latin typeface="Calibri"/>
              </a:rPr>
              <a:t>Smart Lighting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389120"/>
            <a:ext cx="2110435" cy="365760"/>
          </a:xfrm>
          <a:prstGeom prst="roundRect">
            <a:avLst>
              <a:gd name="adj" fmla="val 50000"/>
            </a:avLst>
          </a:prstGeom>
          <a:solidFill>
            <a:srgbClr val="E9F0FA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389120"/>
            <a:ext cx="211043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4FA8"/>
                </a:solidFill>
                <a:latin typeface="Calibri"/>
              </a:rPr>
              <a:t>Pengujian &amp; Serah Terima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1234440"/>
            <a:ext cx="5742432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72200" y="146304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3294B"/>
                </a:solidFill>
                <a:latin typeface="Calibri"/>
              </a:rPr>
              <a:t>Alur Proses Bisnis (per proyek)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2057400"/>
            <a:ext cx="530352" cy="676656"/>
          </a:xfrm>
          <a:prstGeom prst="roundRect">
            <a:avLst>
              <a:gd name="adj" fmla="val 14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44768" y="2057400"/>
            <a:ext cx="530352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1F6FE0"/>
                </a:solidFill>
                <a:latin typeface="Georgia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16752" y="2761488"/>
            <a:ext cx="78638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A"/>
                </a:solidFill>
                <a:latin typeface="Calibri"/>
              </a:rPr>
              <a:t>Pesanan</a:t>
            </a:r>
          </a:p>
        </p:txBody>
      </p:sp>
      <p:sp>
        <p:nvSpPr>
          <p:cNvPr id="23" name="Chevron 22"/>
          <p:cNvSpPr/>
          <p:nvPr/>
        </p:nvSpPr>
        <p:spPr>
          <a:xfrm>
            <a:off x="6679692" y="2276856"/>
            <a:ext cx="118872" cy="237744"/>
          </a:xfrm>
          <a:prstGeom prst="chevron">
            <a:avLst/>
          </a:prstGeom>
          <a:solidFill>
            <a:srgbClr val="5E6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839712" y="2057400"/>
            <a:ext cx="530352" cy="676656"/>
          </a:xfrm>
          <a:prstGeom prst="roundRect">
            <a:avLst>
              <a:gd name="adj" fmla="val 14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39712" y="2057400"/>
            <a:ext cx="530352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1F6FE0"/>
                </a:solidFill>
                <a:latin typeface="Georgia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1696" y="2761488"/>
            <a:ext cx="78638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A"/>
                </a:solidFill>
                <a:latin typeface="Calibri"/>
              </a:rPr>
              <a:t>Survei Lokasi</a:t>
            </a:r>
          </a:p>
        </p:txBody>
      </p:sp>
      <p:sp>
        <p:nvSpPr>
          <p:cNvPr id="27" name="Chevron 26"/>
          <p:cNvSpPr/>
          <p:nvPr/>
        </p:nvSpPr>
        <p:spPr>
          <a:xfrm>
            <a:off x="7374636" y="2276856"/>
            <a:ext cx="118872" cy="237744"/>
          </a:xfrm>
          <a:prstGeom prst="chevron">
            <a:avLst/>
          </a:prstGeom>
          <a:solidFill>
            <a:srgbClr val="5E6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534655" y="2057400"/>
            <a:ext cx="530352" cy="676656"/>
          </a:xfrm>
          <a:prstGeom prst="roundRect">
            <a:avLst>
              <a:gd name="adj" fmla="val 14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34655" y="2057400"/>
            <a:ext cx="530352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1F6FE0"/>
                </a:solidFill>
                <a:latin typeface="Georgia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39" y="2761488"/>
            <a:ext cx="78638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A"/>
                </a:solidFill>
                <a:latin typeface="Calibri"/>
              </a:rPr>
              <a:t>Desain</a:t>
            </a:r>
          </a:p>
        </p:txBody>
      </p:sp>
      <p:sp>
        <p:nvSpPr>
          <p:cNvPr id="31" name="Chevron 30"/>
          <p:cNvSpPr/>
          <p:nvPr/>
        </p:nvSpPr>
        <p:spPr>
          <a:xfrm>
            <a:off x="8069579" y="2276856"/>
            <a:ext cx="118872" cy="237744"/>
          </a:xfrm>
          <a:prstGeom prst="chevron">
            <a:avLst/>
          </a:prstGeom>
          <a:solidFill>
            <a:srgbClr val="5E6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229599" y="2057400"/>
            <a:ext cx="530352" cy="676656"/>
          </a:xfrm>
          <a:prstGeom prst="roundRect">
            <a:avLst>
              <a:gd name="adj" fmla="val 14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599" y="2057400"/>
            <a:ext cx="530352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1F6FE0"/>
                </a:solidFill>
                <a:latin typeface="Georgia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01583" y="2761488"/>
            <a:ext cx="78638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A"/>
                </a:solidFill>
                <a:latin typeface="Calibri"/>
              </a:rPr>
              <a:t>Instalasi</a:t>
            </a:r>
          </a:p>
        </p:txBody>
      </p:sp>
      <p:sp>
        <p:nvSpPr>
          <p:cNvPr id="35" name="Chevron 34"/>
          <p:cNvSpPr/>
          <p:nvPr/>
        </p:nvSpPr>
        <p:spPr>
          <a:xfrm>
            <a:off x="8764524" y="2276856"/>
            <a:ext cx="118872" cy="237744"/>
          </a:xfrm>
          <a:prstGeom prst="chevron">
            <a:avLst/>
          </a:prstGeom>
          <a:solidFill>
            <a:srgbClr val="5E6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924543" y="2057400"/>
            <a:ext cx="530352" cy="676656"/>
          </a:xfrm>
          <a:prstGeom prst="roundRect">
            <a:avLst>
              <a:gd name="adj" fmla="val 14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24543" y="2057400"/>
            <a:ext cx="530352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1F6FE0"/>
                </a:solidFill>
                <a:latin typeface="Georgia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96527" y="2761488"/>
            <a:ext cx="78638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A"/>
                </a:solidFill>
                <a:latin typeface="Calibri"/>
              </a:rPr>
              <a:t>Integrasi</a:t>
            </a:r>
          </a:p>
        </p:txBody>
      </p:sp>
      <p:sp>
        <p:nvSpPr>
          <p:cNvPr id="39" name="Chevron 38"/>
          <p:cNvSpPr/>
          <p:nvPr/>
        </p:nvSpPr>
        <p:spPr>
          <a:xfrm>
            <a:off x="9459467" y="2276856"/>
            <a:ext cx="118872" cy="237744"/>
          </a:xfrm>
          <a:prstGeom prst="chevron">
            <a:avLst/>
          </a:prstGeom>
          <a:solidFill>
            <a:srgbClr val="5E6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9619487" y="2057400"/>
            <a:ext cx="530352" cy="676656"/>
          </a:xfrm>
          <a:prstGeom prst="roundRect">
            <a:avLst>
              <a:gd name="adj" fmla="val 14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19487" y="2057400"/>
            <a:ext cx="530352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1F6FE0"/>
                </a:solidFill>
                <a:latin typeface="Georgia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91471" y="2761488"/>
            <a:ext cx="78638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A"/>
                </a:solidFill>
                <a:latin typeface="Calibri"/>
              </a:rPr>
              <a:t>Pengujian</a:t>
            </a:r>
          </a:p>
        </p:txBody>
      </p:sp>
      <p:sp>
        <p:nvSpPr>
          <p:cNvPr id="43" name="Chevron 42"/>
          <p:cNvSpPr/>
          <p:nvPr/>
        </p:nvSpPr>
        <p:spPr>
          <a:xfrm>
            <a:off x="10154411" y="2276856"/>
            <a:ext cx="118872" cy="237744"/>
          </a:xfrm>
          <a:prstGeom prst="chevron">
            <a:avLst/>
          </a:prstGeom>
          <a:solidFill>
            <a:srgbClr val="5E6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0314431" y="2057400"/>
            <a:ext cx="530352" cy="676656"/>
          </a:xfrm>
          <a:prstGeom prst="roundRect">
            <a:avLst>
              <a:gd name="adj" fmla="val 14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314431" y="2057400"/>
            <a:ext cx="530352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1F6FE0"/>
                </a:solidFill>
                <a:latin typeface="Georgia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86415" y="2761488"/>
            <a:ext cx="78638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A"/>
                </a:solidFill>
                <a:latin typeface="Calibri"/>
              </a:rPr>
              <a:t>Serah Terima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0" y="3611880"/>
            <a:ext cx="5212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E6E86"/>
                </a:solidFill>
                <a:latin typeface="Calibri"/>
              </a:rPr>
              <a:t>Setiap proyek dijalankan teknisi di lokasi klien dan dipantau manajer - inilah data operasional yang dikelola dashboard.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7B8"/>
                </a:solidFill>
                <a:latin typeface="Calibri"/>
              </a:rPr>
              <a:t>Dashboard EWS - PT Smart Home Inovasi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6455664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7B8"/>
                </a:solidFill>
                <a:latin typeface="Calibri"/>
              </a:rPr>
              <a:t>Dian Putri Iswandi - Sidang TA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0" y="25603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A9B6C8"/>
                </a:solidFill>
                <a:latin typeface="Consolas"/>
              </a:rPr>
              <a:t>02/15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5720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1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20624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3294B"/>
                </a:solidFill>
                <a:latin typeface="Georgia"/>
              </a:rPr>
              <a:t>Analisa Kebutuhan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2412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>
                <a:solidFill>
                  <a:srgbClr val="5E6E86"/>
                </a:solidFill>
                <a:latin typeface="Calibri"/>
              </a:rPr>
              <a:t>Identifikasi masalah di lapangan &amp; perumusan aliran data sistem usulan.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3294B"/>
                </a:solidFill>
                <a:latin typeface="Calibri"/>
              </a:rPr>
              <a:t>IDENTIFIKASI MASALAH DI LAPANGAN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577840" cy="105156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82296" cy="1051560"/>
          </a:xfrm>
          <a:prstGeom prst="rect">
            <a:avLst/>
          </a:prstGeom>
          <a:solidFill>
            <a:srgbClr val="D3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112264"/>
            <a:ext cx="5212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6233A"/>
                </a:solidFill>
                <a:latin typeface="Calibri"/>
              </a:rPr>
              <a:t>1. Pelaporan tidak langsung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E6E86"/>
                </a:solidFill>
                <a:latin typeface="Calibri"/>
              </a:rPr>
              <a:t>Teknisi lapor via WhatsApp, manajer input manual ke spreadsheet - teknisi tak punya akses sistem.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72968"/>
            <a:ext cx="5577840" cy="105156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3172968"/>
            <a:ext cx="82296" cy="1051560"/>
          </a:xfrm>
          <a:prstGeom prst="rect">
            <a:avLst/>
          </a:prstGeom>
          <a:solidFill>
            <a:srgbClr val="D3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319272"/>
            <a:ext cx="5212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6233A"/>
                </a:solidFill>
                <a:latin typeface="Calibri"/>
              </a:rPr>
              <a:t>2. Tidak ada dashboard ringkas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E6E86"/>
                </a:solidFill>
                <a:latin typeface="Calibri"/>
              </a:rPr>
              <a:t>Tak ada visualisasi kondisi seluruh proyek dalam satu layar.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379976"/>
            <a:ext cx="5577840" cy="105156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4379976"/>
            <a:ext cx="82296" cy="1051560"/>
          </a:xfrm>
          <a:prstGeom prst="rect">
            <a:avLst/>
          </a:prstGeom>
          <a:solidFill>
            <a:srgbClr val="D3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526280"/>
            <a:ext cx="5212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6233A"/>
                </a:solidFill>
                <a:latin typeface="Calibri"/>
              </a:rPr>
              <a:t>3. Tanpa indikator risiko terukur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E6E86"/>
                </a:solidFill>
                <a:latin typeface="Calibri"/>
              </a:rPr>
              <a:t>Deteksi keterlambatan reaktif, bukan preventif - proyek kritis terabaikan.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1554480"/>
            <a:ext cx="51937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20840" y="17830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3294B"/>
                </a:solidFill>
                <a:latin typeface="Calibri"/>
              </a:rPr>
              <a:t>PERUMUSAN ALIRAN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2194560"/>
            <a:ext cx="2743200" cy="77724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80960" y="228600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16233A"/>
                </a:solidFill>
                <a:latin typeface="Calibri"/>
              </a:rPr>
              <a:t>Teknisi</a:t>
            </a:r>
          </a:p>
          <a:p>
            <a:pPr algn="ctr"/>
            <a:r>
              <a:rPr sz="1050" b="0" i="0">
                <a:solidFill>
                  <a:srgbClr val="5E6E86"/>
                </a:solidFill>
                <a:latin typeface="Calibri"/>
              </a:rPr>
              <a:t>laporan harian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3429000"/>
            <a:ext cx="2743200" cy="841248"/>
          </a:xfrm>
          <a:prstGeom prst="roundRect">
            <a:avLst>
              <a:gd name="adj" fmla="val 6000"/>
            </a:avLst>
          </a:prstGeom>
          <a:solidFill>
            <a:srgbClr val="E9F0FA"/>
          </a:solidFill>
          <a:ln w="12700">
            <a:solidFill>
              <a:srgbClr val="1F6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80960" y="3529584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164FA8"/>
                </a:solidFill>
                <a:latin typeface="Calibri"/>
              </a:rPr>
              <a:t>Sistem / Modul EWS</a:t>
            </a:r>
          </a:p>
          <a:p>
            <a:pPr algn="ctr"/>
            <a:r>
              <a:rPr sz="1050" b="0" i="0">
                <a:solidFill>
                  <a:srgbClr val="5E6E86"/>
                </a:solidFill>
                <a:latin typeface="Calibri"/>
              </a:rPr>
              <a:t>hitung EV - PV - SPI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0" y="4754880"/>
            <a:ext cx="2743200" cy="77724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0" y="484632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16233A"/>
                </a:solidFill>
                <a:latin typeface="Calibri"/>
              </a:rPr>
              <a:t>Manajer</a:t>
            </a:r>
          </a:p>
          <a:p>
            <a:pPr algn="ctr"/>
            <a:r>
              <a:rPr sz="1050" b="0" i="0">
                <a:solidFill>
                  <a:srgbClr val="5E6E86"/>
                </a:solidFill>
                <a:latin typeface="Calibri"/>
              </a:rPr>
              <a:t>RAG + peringatan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52560" y="2971800"/>
            <a:ext cx="0" cy="457200"/>
          </a:xfrm>
          <a:prstGeom prst="bentConnector3">
            <a:avLst/>
          </a:prstGeom>
          <a:ln w="25400">
            <a:solidFill>
              <a:srgbClr val="1F6FE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4270248"/>
            <a:ext cx="0" cy="484632"/>
          </a:xfrm>
          <a:prstGeom prst="bentConnector3">
            <a:avLst/>
          </a:prstGeom>
          <a:ln w="25400">
            <a:solidFill>
              <a:srgbClr val="1F6FE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7B8"/>
                </a:solidFill>
                <a:latin typeface="Calibri"/>
              </a:rPr>
              <a:t>Dashboard EWS - PT Smart Home Inovasi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6455664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7B8"/>
                </a:solidFill>
                <a:latin typeface="Calibri"/>
              </a:rPr>
              <a:t>Dian Putri Iswandi - Sidang TA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25603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A9B6C8"/>
                </a:solidFill>
                <a:latin typeface="Consolas"/>
              </a:rPr>
              <a:t>03/15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57200"/>
            <a:ext cx="566928" cy="420624"/>
          </a:xfrm>
          <a:prstGeom prst="roundRect">
            <a:avLst>
              <a:gd name="adj" fmla="val 18000"/>
            </a:avLst>
          </a:prstGeom>
          <a:solidFill>
            <a:srgbClr val="D3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6692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3a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20624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13294B"/>
                </a:solidFill>
                <a:latin typeface="Georgia"/>
              </a:rPr>
              <a:t>Proses Bisnis </a:t>
            </a:r>
            <a:r>
              <a:rPr sz="2800" b="1" i="0">
                <a:solidFill>
                  <a:srgbClr val="D33A2C"/>
                </a:solidFill>
                <a:latin typeface="Georgia"/>
              </a:rPr>
              <a:t>Sebelum</a:t>
            </a:r>
            <a:r>
              <a:rPr sz="2800" b="1" i="0">
                <a:solidFill>
                  <a:srgbClr val="13294B"/>
                </a:solidFill>
                <a:latin typeface="Georgia"/>
              </a:rPr>
              <a:t> - Pelaporan Manual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2412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>
                <a:solidFill>
                  <a:srgbClr val="5E6E86"/>
                </a:solidFill>
                <a:latin typeface="Calibri"/>
              </a:rPr>
              <a:t>Alur berjalan yang memicu keterlambatan deteksi masalah di PT SHI.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993392" cy="123444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212848"/>
            <a:ext cx="19933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 i="0">
                <a:solidFill>
                  <a:srgbClr val="16233A"/>
                </a:solidFill>
                <a:latin typeface="Calibri"/>
              </a:rPr>
              <a:t>Teknisi lapor</a:t>
            </a:r>
          </a:p>
          <a:p>
            <a:pPr algn="ctr"/>
            <a:r>
              <a:rPr sz="1200" b="0" i="0">
                <a:solidFill>
                  <a:srgbClr val="5E6E86"/>
                </a:solidFill>
                <a:latin typeface="Calibri"/>
              </a:rPr>
              <a:t>via WhatsApp</a:t>
            </a:r>
          </a:p>
        </p:txBody>
      </p:sp>
      <p:sp>
        <p:nvSpPr>
          <p:cNvPr id="8" name="Chevron 7"/>
          <p:cNvSpPr/>
          <p:nvPr/>
        </p:nvSpPr>
        <p:spPr>
          <a:xfrm>
            <a:off x="2560320" y="2286000"/>
            <a:ext cx="182880" cy="292608"/>
          </a:xfrm>
          <a:prstGeom prst="chevron">
            <a:avLst/>
          </a:prstGeom>
          <a:solidFill>
            <a:srgbClr val="5E6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88920" y="1828800"/>
            <a:ext cx="1993392" cy="123444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88920" y="2212848"/>
            <a:ext cx="19933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 i="0">
                <a:solidFill>
                  <a:srgbClr val="16233A"/>
                </a:solidFill>
                <a:latin typeface="Calibri"/>
              </a:rPr>
              <a:t>Manajer baca</a:t>
            </a:r>
          </a:p>
          <a:p>
            <a:pPr algn="ctr"/>
            <a:r>
              <a:rPr sz="1200" b="0" i="0">
                <a:solidFill>
                  <a:srgbClr val="5E6E86"/>
                </a:solidFill>
                <a:latin typeface="Calibri"/>
              </a:rPr>
              <a:t>chat manual</a:t>
            </a:r>
          </a:p>
        </p:txBody>
      </p:sp>
      <p:sp>
        <p:nvSpPr>
          <p:cNvPr id="11" name="Chevron 10"/>
          <p:cNvSpPr/>
          <p:nvPr/>
        </p:nvSpPr>
        <p:spPr>
          <a:xfrm>
            <a:off x="4800600" y="2286000"/>
            <a:ext cx="182880" cy="292608"/>
          </a:xfrm>
          <a:prstGeom prst="chevron">
            <a:avLst/>
          </a:prstGeom>
          <a:solidFill>
            <a:srgbClr val="5E6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0" y="1828800"/>
            <a:ext cx="1993392" cy="123444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0" y="2212848"/>
            <a:ext cx="19933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 i="0">
                <a:solidFill>
                  <a:srgbClr val="16233A"/>
                </a:solidFill>
                <a:latin typeface="Calibri"/>
              </a:rPr>
              <a:t>Input manual</a:t>
            </a:r>
          </a:p>
          <a:p>
            <a:pPr algn="ctr"/>
            <a:r>
              <a:rPr sz="1200" b="0" i="0">
                <a:solidFill>
                  <a:srgbClr val="5E6E86"/>
                </a:solidFill>
                <a:latin typeface="Calibri"/>
              </a:rPr>
              <a:t>ke spreadsheet</a:t>
            </a:r>
          </a:p>
        </p:txBody>
      </p:sp>
      <p:sp>
        <p:nvSpPr>
          <p:cNvPr id="14" name="Chevron 13"/>
          <p:cNvSpPr/>
          <p:nvPr/>
        </p:nvSpPr>
        <p:spPr>
          <a:xfrm>
            <a:off x="7040879" y="2286000"/>
            <a:ext cx="182880" cy="292608"/>
          </a:xfrm>
          <a:prstGeom prst="chevron">
            <a:avLst/>
          </a:prstGeom>
          <a:solidFill>
            <a:srgbClr val="5E6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269479" y="1828800"/>
            <a:ext cx="1993392" cy="123444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69479" y="2212848"/>
            <a:ext cx="19933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 i="0">
                <a:solidFill>
                  <a:srgbClr val="16233A"/>
                </a:solidFill>
                <a:latin typeface="Calibri"/>
              </a:rPr>
              <a:t>Hitung SPI</a:t>
            </a:r>
          </a:p>
          <a:p>
            <a:pPr algn="ctr"/>
            <a:r>
              <a:rPr sz="1200" b="0" i="0">
                <a:solidFill>
                  <a:srgbClr val="5E6E86"/>
                </a:solidFill>
                <a:latin typeface="Calibri"/>
              </a:rPr>
              <a:t>manual</a:t>
            </a:r>
          </a:p>
        </p:txBody>
      </p:sp>
      <p:sp>
        <p:nvSpPr>
          <p:cNvPr id="17" name="Chevron 16"/>
          <p:cNvSpPr/>
          <p:nvPr/>
        </p:nvSpPr>
        <p:spPr>
          <a:xfrm>
            <a:off x="9281159" y="2286000"/>
            <a:ext cx="182880" cy="292608"/>
          </a:xfrm>
          <a:prstGeom prst="chevron">
            <a:avLst/>
          </a:prstGeom>
          <a:solidFill>
            <a:srgbClr val="5E6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509759" y="1828800"/>
            <a:ext cx="1993392" cy="1234440"/>
          </a:xfrm>
          <a:prstGeom prst="roundRect">
            <a:avLst>
              <a:gd name="adj" fmla="val 6000"/>
            </a:avLst>
          </a:prstGeom>
          <a:solidFill>
            <a:srgbClr val="FBEAE8"/>
          </a:solidFill>
          <a:ln w="12700">
            <a:solidFill>
              <a:srgbClr val="D3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09759" y="2212848"/>
            <a:ext cx="19933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 i="0">
                <a:solidFill>
                  <a:srgbClr val="D33A2C"/>
                </a:solidFill>
                <a:latin typeface="Calibri"/>
              </a:rPr>
              <a:t>Deteksi</a:t>
            </a:r>
          </a:p>
          <a:p>
            <a:pPr algn="ctr"/>
            <a:r>
              <a:rPr sz="1200" b="0" i="0">
                <a:solidFill>
                  <a:srgbClr val="D33A2C"/>
                </a:solidFill>
                <a:latin typeface="Calibri"/>
              </a:rPr>
              <a:t>terlambat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42900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FBEAE8"/>
          </a:solidFill>
          <a:ln w="12700">
            <a:solidFill>
              <a:srgbClr val="F0C4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61188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D33A2C"/>
                </a:solidFill>
                <a:latin typeface="Calibri"/>
              </a:rPr>
              <a:t>Akibat:  </a:t>
            </a:r>
            <a:r>
              <a:rPr sz="1400" b="0" i="0">
                <a:solidFill>
                  <a:srgbClr val="16233A"/>
                </a:solidFill>
                <a:latin typeface="Calibri"/>
              </a:rPr>
              <a:t>rantai manual &amp; berlapis membuat masalah baru ketahuan setelah terjadi - penanganan </a:t>
            </a:r>
            <a:r>
              <a:rPr sz="1400" b="1" i="0">
                <a:solidFill>
                  <a:srgbClr val="16233A"/>
                </a:solidFill>
                <a:latin typeface="Calibri"/>
              </a:rPr>
              <a:t>reaktif, bukan preventif</a:t>
            </a:r>
            <a:r>
              <a:rPr sz="1400" b="0" i="0">
                <a:solidFill>
                  <a:srgbClr val="16233A"/>
                </a:solidFill>
                <a:latin typeface="Calibri"/>
              </a:rPr>
              <a:t> -&gt; keterlambatan proyek &amp; menurunkan kepuasan pelanggan.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17720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FBEAE8"/>
          </a:solidFill>
          <a:ln w="12700">
            <a:solidFill>
              <a:srgbClr val="F0C4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4617720"/>
            <a:ext cx="7772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D33A2C"/>
                </a:solidFill>
                <a:latin typeface="Calibri"/>
              </a:rPr>
              <a:t>Manual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08760" y="4617720"/>
            <a:ext cx="1632204" cy="384048"/>
          </a:xfrm>
          <a:prstGeom prst="roundRect">
            <a:avLst>
              <a:gd name="adj" fmla="val 50000"/>
            </a:avLst>
          </a:prstGeom>
          <a:solidFill>
            <a:srgbClr val="FBEAE8"/>
          </a:solidFill>
          <a:ln w="12700">
            <a:solidFill>
              <a:srgbClr val="F0C4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08760" y="4617720"/>
            <a:ext cx="16322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D33A2C"/>
                </a:solidFill>
                <a:latin typeface="Calibri"/>
              </a:rPr>
              <a:t>Rawan human error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23844" y="4617720"/>
            <a:ext cx="1476756" cy="384048"/>
          </a:xfrm>
          <a:prstGeom prst="roundRect">
            <a:avLst>
              <a:gd name="adj" fmla="val 50000"/>
            </a:avLst>
          </a:prstGeom>
          <a:solidFill>
            <a:srgbClr val="FBEAE8"/>
          </a:solidFill>
          <a:ln w="12700">
            <a:solidFill>
              <a:srgbClr val="F0C4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23844" y="4617720"/>
            <a:ext cx="147675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D33A2C"/>
                </a:solidFill>
                <a:latin typeface="Calibri"/>
              </a:rPr>
              <a:t>Tidak real-time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617720"/>
            <a:ext cx="1865376" cy="384048"/>
          </a:xfrm>
          <a:prstGeom prst="roundRect">
            <a:avLst>
              <a:gd name="adj" fmla="val 50000"/>
            </a:avLst>
          </a:prstGeom>
          <a:solidFill>
            <a:srgbClr val="FBEAE8"/>
          </a:solidFill>
          <a:ln w="12700">
            <a:solidFill>
              <a:srgbClr val="F0C4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83480" y="4617720"/>
            <a:ext cx="186537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D33A2C"/>
                </a:solidFill>
                <a:latin typeface="Calibri"/>
              </a:rPr>
              <a:t>Teknisi tak terlibat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7B8"/>
                </a:solidFill>
                <a:latin typeface="Calibri"/>
              </a:rPr>
              <a:t>Dashboard EWS - PT Smart Home Inovasi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6455664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7B8"/>
                </a:solidFill>
                <a:latin typeface="Calibri"/>
              </a:rPr>
              <a:t>Dian Putri Iswandi - Sidang TA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25603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A9B6C8"/>
                </a:solidFill>
                <a:latin typeface="Consolas"/>
              </a:rPr>
              <a:t>04/15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57200"/>
            <a:ext cx="566928" cy="420624"/>
          </a:xfrm>
          <a:prstGeom prst="roundRect">
            <a:avLst>
              <a:gd name="adj" fmla="val 18000"/>
            </a:avLst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6692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3b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20624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13294B"/>
                </a:solidFill>
                <a:latin typeface="Georgia"/>
              </a:rPr>
              <a:t>Proses Bisnis </a:t>
            </a:r>
            <a:r>
              <a:rPr sz="2800" b="1" i="0">
                <a:solidFill>
                  <a:srgbClr val="1E9E57"/>
                </a:solidFill>
                <a:latin typeface="Georgia"/>
              </a:rPr>
              <a:t>Sesudah</a:t>
            </a:r>
            <a:r>
              <a:rPr sz="2800" b="1" i="0">
                <a:solidFill>
                  <a:srgbClr val="13294B"/>
                </a:solidFill>
                <a:latin typeface="Georgia"/>
              </a:rPr>
              <a:t> - Dashboard Terpusat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2412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>
                <a:solidFill>
                  <a:srgbClr val="5E6E86"/>
                </a:solidFill>
                <a:latin typeface="Calibri"/>
              </a:rPr>
              <a:t>Dua peran, satu sumber kebenaran. Data mengalir otomatis - tanpa rantai manual.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931920" cy="329184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16233A"/>
                </a:solidFill>
                <a:latin typeface="Georgia"/>
              </a:rPr>
              <a:t>Teknisi</a:t>
            </a:r>
          </a:p>
          <a:p>
            <a:pPr algn="l"/>
            <a:r>
              <a:rPr sz="1200" b="0" i="0">
                <a:solidFill>
                  <a:srgbClr val="5E6E86"/>
                </a:solidFill>
                <a:latin typeface="Calibri"/>
              </a:rPr>
              <a:t>Penginput Laporan Harian </a:t>
            </a:r>
            <a:r>
              <a:rPr sz="1200" b="1" i="0">
                <a:solidFill>
                  <a:srgbClr val="1F6FE0"/>
                </a:solidFill>
                <a:latin typeface="Calibri"/>
              </a:rPr>
              <a:t>Mandiri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310128"/>
            <a:ext cx="91440" cy="91440"/>
          </a:xfrm>
          <a:prstGeom prst="ellipse">
            <a:avLst/>
          </a:prstGeom>
          <a:solidFill>
            <a:srgbClr val="1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320040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6233A"/>
                </a:solidFill>
                <a:latin typeface="Calibri"/>
              </a:rPr>
              <a:t>Input progres &amp; kendala langsung dari lapangan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767328"/>
            <a:ext cx="91440" cy="91440"/>
          </a:xfrm>
          <a:prstGeom prst="ellipse">
            <a:avLst/>
          </a:prstGeom>
          <a:solidFill>
            <a:srgbClr val="1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365760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6233A"/>
                </a:solidFill>
                <a:latin typeface="Calibri"/>
              </a:rPr>
              <a:t>Kelola tugas di papan Kanban + unggah bukti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224528"/>
            <a:ext cx="91440" cy="91440"/>
          </a:xfrm>
          <a:prstGeom prst="ellipse">
            <a:avLst/>
          </a:prstGeom>
          <a:solidFill>
            <a:srgbClr val="1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411480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6233A"/>
                </a:solidFill>
                <a:latin typeface="Calibri"/>
              </a:rPr>
              <a:t>Ajukan eskalasi kendala lapangan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08392" y="1600200"/>
            <a:ext cx="3931920" cy="329184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982712" y="1874519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8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82712" y="1874519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246888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16233A"/>
                </a:solidFill>
                <a:latin typeface="Georgia"/>
              </a:rPr>
              <a:t>Manajer</a:t>
            </a:r>
          </a:p>
          <a:p>
            <a:pPr algn="l"/>
            <a:r>
              <a:rPr sz="1200" b="0" i="0">
                <a:solidFill>
                  <a:srgbClr val="5E6E86"/>
                </a:solidFill>
                <a:latin typeface="Calibri"/>
              </a:rPr>
              <a:t>Pengawas </a:t>
            </a:r>
            <a:r>
              <a:rPr sz="1200" b="1" i="0">
                <a:solidFill>
                  <a:srgbClr val="C88600"/>
                </a:solidFill>
                <a:latin typeface="Calibri"/>
              </a:rPr>
              <a:t>Dashboard Sentral</a:t>
            </a:r>
          </a:p>
        </p:txBody>
      </p:sp>
      <p:sp>
        <p:nvSpPr>
          <p:cNvPr id="20" name="Oval 19"/>
          <p:cNvSpPr/>
          <p:nvPr/>
        </p:nvSpPr>
        <p:spPr>
          <a:xfrm>
            <a:off x="8028431" y="3310128"/>
            <a:ext cx="91440" cy="91440"/>
          </a:xfrm>
          <a:prstGeom prst="ellipse">
            <a:avLst/>
          </a:prstGeom>
          <a:solidFill>
            <a:srgbClr val="C8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57031" y="320040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6233A"/>
                </a:solidFill>
                <a:latin typeface="Calibri"/>
              </a:rPr>
              <a:t>Pantau seluruh proyek aktif dalam satu layar</a:t>
            </a:r>
          </a:p>
        </p:txBody>
      </p:sp>
      <p:sp>
        <p:nvSpPr>
          <p:cNvPr id="22" name="Oval 21"/>
          <p:cNvSpPr/>
          <p:nvPr/>
        </p:nvSpPr>
        <p:spPr>
          <a:xfrm>
            <a:off x="8028431" y="3767328"/>
            <a:ext cx="91440" cy="91440"/>
          </a:xfrm>
          <a:prstGeom prst="ellipse">
            <a:avLst/>
          </a:prstGeom>
          <a:solidFill>
            <a:srgbClr val="C8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57031" y="365760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6233A"/>
                </a:solidFill>
                <a:latin typeface="Calibri"/>
              </a:rPr>
              <a:t>Terima peringatan dini - proyek kritis teratas</a:t>
            </a:r>
          </a:p>
        </p:txBody>
      </p:sp>
      <p:sp>
        <p:nvSpPr>
          <p:cNvPr id="24" name="Oval 23"/>
          <p:cNvSpPr/>
          <p:nvPr/>
        </p:nvSpPr>
        <p:spPr>
          <a:xfrm>
            <a:off x="8028431" y="4224528"/>
            <a:ext cx="91440" cy="91440"/>
          </a:xfrm>
          <a:prstGeom prst="ellipse">
            <a:avLst/>
          </a:prstGeom>
          <a:solidFill>
            <a:srgbClr val="C8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57031" y="411480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6233A"/>
                </a:solidFill>
                <a:latin typeface="Calibri"/>
              </a:rPr>
              <a:t>Review bukti, setujui tugas, balas eskalasi</a:t>
            </a:r>
          </a:p>
        </p:txBody>
      </p:sp>
      <p:sp>
        <p:nvSpPr>
          <p:cNvPr id="26" name="Oval 25"/>
          <p:cNvSpPr/>
          <p:nvPr/>
        </p:nvSpPr>
        <p:spPr>
          <a:xfrm>
            <a:off x="4992624" y="2331720"/>
            <a:ext cx="2194560" cy="1828800"/>
          </a:xfrm>
          <a:prstGeom prst="ellipse">
            <a:avLst/>
          </a:prstGeom>
          <a:solidFill>
            <a:srgbClr val="E9F0FA"/>
          </a:solidFill>
          <a:ln w="12700">
            <a:solidFill>
              <a:srgbClr val="1F6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92624" y="274320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164FA8"/>
                </a:solidFill>
                <a:latin typeface="Calibri"/>
              </a:rPr>
              <a:t>Dashboard</a:t>
            </a:r>
          </a:p>
          <a:p>
            <a:pPr algn="ctr"/>
            <a:r>
              <a:rPr sz="1100" b="0" i="0">
                <a:solidFill>
                  <a:srgbClr val="5E6E86"/>
                </a:solidFill>
                <a:latin typeface="Calibri"/>
              </a:rPr>
              <a:t>EWS Sentral</a:t>
            </a:r>
          </a:p>
        </p:txBody>
      </p:sp>
      <p:sp>
        <p:nvSpPr>
          <p:cNvPr id="28" name="Oval 27"/>
          <p:cNvSpPr/>
          <p:nvPr/>
        </p:nvSpPr>
        <p:spPr>
          <a:xfrm>
            <a:off x="5632704" y="3611880"/>
            <a:ext cx="164592" cy="164592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943600" y="3611880"/>
            <a:ext cx="164592" cy="164592"/>
          </a:xfrm>
          <a:prstGeom prst="ellipse">
            <a:avLst/>
          </a:prstGeom>
          <a:solidFill>
            <a:srgbClr val="C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254496" y="3611880"/>
            <a:ext cx="164592" cy="164592"/>
          </a:xfrm>
          <a:prstGeom prst="ellipse">
            <a:avLst/>
          </a:prstGeom>
          <a:solidFill>
            <a:srgbClr val="D3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>
            <a:off x="4480560" y="3200400"/>
            <a:ext cx="512064" cy="0"/>
          </a:xfrm>
          <a:prstGeom prst="bentConnector3">
            <a:avLst/>
          </a:prstGeom>
          <a:ln w="22860">
            <a:solidFill>
              <a:srgbClr val="5E6E8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187184" y="3200400"/>
            <a:ext cx="521208" cy="0"/>
          </a:xfrm>
          <a:prstGeom prst="bentConnector3">
            <a:avLst/>
          </a:prstGeom>
          <a:ln w="22860">
            <a:solidFill>
              <a:srgbClr val="5E6E8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48640" y="5074920"/>
            <a:ext cx="11091672" cy="777240"/>
          </a:xfrm>
          <a:prstGeom prst="roundRect">
            <a:avLst>
              <a:gd name="adj" fmla="val 6000"/>
            </a:avLst>
          </a:prstGeom>
          <a:solidFill>
            <a:srgbClr val="E7F4EC"/>
          </a:solidFill>
          <a:ln w="12700">
            <a:solidFill>
              <a:srgbClr val="BFE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5230368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9E57"/>
                </a:solidFill>
                <a:latin typeface="Calibri"/>
              </a:rPr>
              <a:t>Hasil:  </a:t>
            </a:r>
            <a:r>
              <a:rPr sz="1400" b="0" i="0">
                <a:solidFill>
                  <a:srgbClr val="16233A"/>
                </a:solidFill>
                <a:latin typeface="Calibri"/>
              </a:rPr>
              <a:t>teknisi melapor sendiri secara real-time, manajer memantau terpusat - deteksi masalah jadi </a:t>
            </a:r>
            <a:r>
              <a:rPr sz="1400" b="1" i="0">
                <a:solidFill>
                  <a:srgbClr val="16233A"/>
                </a:solidFill>
                <a:latin typeface="Calibri"/>
              </a:rPr>
              <a:t>preventif</a:t>
            </a:r>
            <a:r>
              <a:rPr sz="1400" b="0" i="0">
                <a:solidFill>
                  <a:srgbClr val="16233A"/>
                </a:solidFill>
                <a:latin typeface="Calibri"/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7B8"/>
                </a:solidFill>
                <a:latin typeface="Calibri"/>
              </a:rPr>
              <a:t>Dashboard EWS - PT Smart Home Inovasi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6455664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7B8"/>
                </a:solidFill>
                <a:latin typeface="Calibri"/>
              </a:rPr>
              <a:t>Dian Putri Iswandi - Sidang TA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25603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A9B6C8"/>
                </a:solidFill>
                <a:latin typeface="Consolas"/>
              </a:rPr>
              <a:t>05/15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5720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1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20624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3294B"/>
                </a:solidFill>
                <a:latin typeface="Georgia"/>
              </a:rPr>
              <a:t>Pemodelan - Arsitektur Sistem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2412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>
                <a:solidFill>
                  <a:srgbClr val="5E6E86"/>
                </a:solidFill>
                <a:latin typeface="Calibri"/>
              </a:rPr>
              <a:t>Arsitektur berlapis: antarmuka -&gt; logika komputasi EWS -&gt; basis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1091672" cy="877824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85623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5623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Klien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1764792"/>
            <a:ext cx="89611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6233A"/>
                </a:solidFill>
                <a:latin typeface="Calibri"/>
              </a:rPr>
              <a:t>Pengguna  </a:t>
            </a:r>
            <a:r>
              <a:rPr sz="1300" b="0" i="0">
                <a:solidFill>
                  <a:srgbClr val="5E6E86"/>
                </a:solidFill>
                <a:latin typeface="Calibri"/>
              </a:rPr>
              <a:t>Teknisi &amp; Manajer (peramban / browser)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9904" y="2478024"/>
            <a:ext cx="0" cy="201168"/>
          </a:xfrm>
          <a:prstGeom prst="bentConnector3">
            <a:avLst/>
          </a:prstGeom>
          <a:ln w="19050">
            <a:solidFill>
              <a:srgbClr val="5E6E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8640" y="2679192"/>
            <a:ext cx="11091672" cy="877824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20320">
            <a:solidFill>
              <a:srgbClr val="1F6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2960" y="2935224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935224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843784"/>
            <a:ext cx="89611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6233A"/>
                </a:solidFill>
                <a:latin typeface="Calibri"/>
              </a:rPr>
              <a:t>Next.js  </a:t>
            </a:r>
            <a:r>
              <a:rPr sz="1300" b="0" i="0">
                <a:solidFill>
                  <a:srgbClr val="5E6E86"/>
                </a:solidFill>
                <a:latin typeface="Calibri"/>
              </a:rPr>
              <a:t>(SSR, React) + Tailwind CSS + Recharts - render dashboard &amp; Kanban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9904" y="3557016"/>
            <a:ext cx="0" cy="201168"/>
          </a:xfrm>
          <a:prstGeom prst="bentConnector3">
            <a:avLst/>
          </a:prstGeom>
          <a:ln w="19050">
            <a:solidFill>
              <a:srgbClr val="5E6E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8640" y="3758184"/>
            <a:ext cx="11091672" cy="877824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20320">
            <a:solidFill>
              <a:srgbClr val="C88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2960" y="4014216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8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014216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Logika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3922776"/>
            <a:ext cx="89611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6233A"/>
                </a:solidFill>
                <a:latin typeface="Calibri"/>
              </a:rPr>
              <a:t>Modul Komputasi EWS  </a:t>
            </a:r>
            <a:r>
              <a:rPr sz="1300" b="0" i="0">
                <a:solidFill>
                  <a:srgbClr val="5E6E86"/>
                </a:solidFill>
                <a:latin typeface="Calibri"/>
              </a:rPr>
              <a:t>API + JWT Auth + RBAC + perhitungan SPI, PV/EV, klasifikasi RAG, criticality sort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9904" y="4636008"/>
            <a:ext cx="0" cy="201168"/>
          </a:xfrm>
          <a:prstGeom prst="bentConnector3">
            <a:avLst/>
          </a:prstGeom>
          <a:ln w="19050">
            <a:solidFill>
              <a:srgbClr val="5E6E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48640" y="4837176"/>
            <a:ext cx="11091672" cy="877824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20320">
            <a:solidFill>
              <a:srgbClr val="1E9E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22960" y="509320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509320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5001768"/>
            <a:ext cx="89611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6233A"/>
                </a:solidFill>
                <a:latin typeface="Calibri"/>
              </a:rPr>
              <a:t>PostgreSQL  </a:t>
            </a:r>
            <a:r>
              <a:rPr sz="1300" b="0" i="0">
                <a:solidFill>
                  <a:srgbClr val="5E6E86"/>
                </a:solidFill>
                <a:latin typeface="Calibri"/>
              </a:rPr>
              <a:t>7 tabel (user, klien, proyek, tugas, bukti, eskalasi, penugasan) + penyimpanan bukti (disk)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7B8"/>
                </a:solidFill>
                <a:latin typeface="Calibri"/>
              </a:rPr>
              <a:t>Dashboard EWS - PT Smart Home Inovasi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6455664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7B8"/>
                </a:solidFill>
                <a:latin typeface="Calibri"/>
              </a:rPr>
              <a:t>Dian Putri Iswandi - Sidang TA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25603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A9B6C8"/>
                </a:solidFill>
                <a:latin typeface="Consolas"/>
              </a:rPr>
              <a:t>06/15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5720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1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20624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3294B"/>
                </a:solidFill>
                <a:latin typeface="Georgia"/>
              </a:rPr>
              <a:t>Use Case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2412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>
                <a:solidFill>
                  <a:srgbClr val="5E6E86"/>
                </a:solidFill>
                <a:latin typeface="Calibri"/>
              </a:rPr>
              <a:t>Dua aktor - Teknisi &amp; Manajer. Fungsi inti wajib melalui &lt;&lt;include&gt;&gt; Login.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5989320"/>
            <a:ext cx="1998878" cy="365760"/>
          </a:xfrm>
          <a:prstGeom prst="roundRect">
            <a:avLst>
              <a:gd name="adj" fmla="val 50000"/>
            </a:avLst>
          </a:prstGeom>
          <a:solidFill>
            <a:srgbClr val="E9F0FA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8640" y="5989320"/>
            <a:ext cx="199887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4FA8"/>
                </a:solidFill>
                <a:latin typeface="Calibri"/>
              </a:rPr>
              <a:t>&lt;&lt;include&gt;&gt; wajib Login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30398" y="5989320"/>
            <a:ext cx="2298801" cy="365760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730398" y="5989320"/>
            <a:ext cx="229880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5E6E86"/>
                </a:solidFill>
                <a:latin typeface="Calibri"/>
              </a:rPr>
              <a:t>&lt;&lt;extend&gt;&gt; riwayat / detail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212080" y="5989320"/>
            <a:ext cx="2298801" cy="365760"/>
          </a:xfrm>
          <a:prstGeom prst="roundRect">
            <a:avLst>
              <a:gd name="adj" fmla="val 50000"/>
            </a:avLst>
          </a:prstGeom>
          <a:solidFill>
            <a:srgbClr val="FBEAE8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212080" y="5989320"/>
            <a:ext cx="229880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D33A2C"/>
                </a:solidFill>
                <a:latin typeface="Calibri"/>
              </a:rPr>
              <a:t>&lt;&lt;exclude&gt;&gt; hapus pelanggan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7B8"/>
                </a:solidFill>
                <a:latin typeface="Calibri"/>
              </a:rPr>
              <a:t>Dashboard EWS - PT Smart Home Inovasi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95360" y="6455664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7B8"/>
                </a:solidFill>
                <a:latin typeface="Calibri"/>
              </a:rPr>
              <a:t>Dian Putri Iswandi - Sidang TA 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0" y="25603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A9B6C8"/>
                </a:solidFill>
                <a:latin typeface="Consolas"/>
              </a:rPr>
              <a:t>07/15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5720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1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20624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3294B"/>
                </a:solidFill>
                <a:latin typeface="Georgia"/>
              </a:rPr>
              <a:t>Wireframe - Dashboard Manajer (EWS)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110916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11091672" cy="4572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PT Smart Home Inovasi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28016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CFDAEC"/>
                </a:solidFill>
                <a:latin typeface="Calibri"/>
              </a:rPr>
              <a:t>Manajer: Budi   |   Keluar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1554480" cy="3977639"/>
          </a:xfrm>
          <a:prstGeom prst="rect">
            <a:avLst/>
          </a:prstGeom>
          <a:solidFill>
            <a:srgbClr val="F4F7FB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874519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5E6E86"/>
                </a:solidFill>
                <a:latin typeface="Calibri"/>
              </a:rPr>
              <a:t>MENU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48840"/>
            <a:ext cx="1371600" cy="329184"/>
          </a:xfrm>
          <a:prstGeom prst="roundRect">
            <a:avLst>
              <a:gd name="adj" fmla="val 10000"/>
            </a:avLst>
          </a:prstGeom>
          <a:solidFill>
            <a:srgbClr val="E9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2148840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6233A"/>
                </a:solidFill>
                <a:latin typeface="Calibri"/>
              </a:rPr>
              <a:t>#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532888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5E6E86"/>
                </a:solidFill>
                <a:latin typeface="Calibri"/>
              </a:rPr>
              <a:t>Proyek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916936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5E6E86"/>
                </a:solidFill>
                <a:latin typeface="Calibri"/>
              </a:rPr>
              <a:t>Klien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300984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5E6E86"/>
                </a:solidFill>
                <a:latin typeface="Calibri"/>
              </a:rPr>
              <a:t>Jadwal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685032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5E6E86"/>
                </a:solidFill>
                <a:latin typeface="Calibri"/>
              </a:rPr>
              <a:t>Laporan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1920240"/>
            <a:ext cx="2212848" cy="91440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50592" y="202996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5E6E86"/>
                </a:solidFill>
                <a:latin typeface="Calibri"/>
              </a:rPr>
              <a:t>TOTAL PROYEK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2304" y="228600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6233A"/>
                </a:solidFill>
                <a:latin typeface="Georgia"/>
              </a:rPr>
              <a:t>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1920240"/>
            <a:ext cx="2212848" cy="91440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7780">
            <a:solidFill>
              <a:srgbClr val="D3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36592" y="202996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5E6E86"/>
                </a:solidFill>
                <a:latin typeface="Calibri"/>
              </a:rPr>
              <a:t>STATUS MERAH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18304" y="228600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D33A2C"/>
                </a:solidFill>
                <a:latin typeface="Georgia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1920240"/>
            <a:ext cx="2212848" cy="91440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7780">
            <a:solidFill>
              <a:srgbClr val="CF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22592" y="202996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5E6E86"/>
                </a:solidFill>
                <a:latin typeface="Calibri"/>
              </a:rPr>
              <a:t>STATUS KUNING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4304" y="228600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CF8A00"/>
                </a:solidFill>
                <a:latin typeface="Georgia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1920240"/>
            <a:ext cx="2212848" cy="91440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7780">
            <a:solidFill>
              <a:srgbClr val="1E9E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08592" y="202996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5E6E86"/>
                </a:solidFill>
                <a:latin typeface="Calibri"/>
              </a:rPr>
              <a:t>STATUS HIJAU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0304" y="228600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9E57"/>
                </a:solidFill>
                <a:latin typeface="Georg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2971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E6E86"/>
                </a:solidFill>
                <a:latin typeface="Calibri"/>
              </a:rPr>
              <a:t>Daftar Proyek - diurutkan dari status paling kritis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32918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5E6E86"/>
                </a:solidFill>
                <a:latin typeface="Calibri"/>
              </a:rPr>
              <a:t>STATUS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32918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5E6E86"/>
                </a:solidFill>
                <a:latin typeface="Calibri"/>
              </a:rPr>
              <a:t>PROYEK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2918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5E6E86"/>
                </a:solidFill>
                <a:latin typeface="Calibri"/>
              </a:rPr>
              <a:t>KLIEN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32918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5E6E86"/>
                </a:solidFill>
                <a:latin typeface="Calibri"/>
              </a:rPr>
              <a:t>SPI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32918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5E6E86"/>
                </a:solidFill>
                <a:latin typeface="Calibri"/>
              </a:rPr>
              <a:t>DEVIASI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286000" y="3584448"/>
            <a:ext cx="9052560" cy="0"/>
          </a:xfrm>
          <a:prstGeom prst="bentConnector3">
            <a:avLst/>
          </a:prstGeom>
          <a:ln w="12700">
            <a:solidFill>
              <a:srgbClr val="D3DE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2542032" y="3712464"/>
            <a:ext cx="164592" cy="164592"/>
          </a:xfrm>
          <a:prstGeom prst="ellipse">
            <a:avLst/>
          </a:prstGeom>
          <a:solidFill>
            <a:srgbClr val="D3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383280" y="367588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6233A"/>
                </a:solidFill>
                <a:latin typeface="Calibri"/>
              </a:rPr>
              <a:t>Instalasi Cluster 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3675888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6233A"/>
                </a:solidFill>
                <a:latin typeface="Calibri"/>
              </a:rPr>
              <a:t>PT Mitra Aksara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3675888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D33A2C"/>
                </a:solidFill>
                <a:latin typeface="Consolas"/>
              </a:rPr>
              <a:t>0.72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3675888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D33A2C"/>
                </a:solidFill>
                <a:latin typeface="Calibri"/>
              </a:rPr>
              <a:t>-28%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286000" y="4023360"/>
            <a:ext cx="9052560" cy="0"/>
          </a:xfrm>
          <a:prstGeom prst="bentConnector3">
            <a:avLst/>
          </a:prstGeom>
          <a:ln w="9525">
            <a:solidFill>
              <a:srgbClr val="EEF2F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2542032" y="4133088"/>
            <a:ext cx="164592" cy="164592"/>
          </a:xfrm>
          <a:prstGeom prst="ellipse">
            <a:avLst/>
          </a:prstGeom>
          <a:solidFill>
            <a:srgbClr val="D3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383280" y="409651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6233A"/>
                </a:solidFill>
                <a:latin typeface="Calibri"/>
              </a:rPr>
              <a:t>Renovasi Server 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4096512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6233A"/>
                </a:solidFill>
                <a:latin typeface="Calibri"/>
              </a:rPr>
              <a:t>PT Bina Daya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4096512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D33A2C"/>
                </a:solidFill>
                <a:latin typeface="Consolas"/>
              </a:rPr>
              <a:t>0.81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4096512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D33A2C"/>
                </a:solidFill>
                <a:latin typeface="Calibri"/>
              </a:rPr>
              <a:t>-19%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2286000" y="4443984"/>
            <a:ext cx="9052560" cy="0"/>
          </a:xfrm>
          <a:prstGeom prst="bentConnector3">
            <a:avLst/>
          </a:prstGeom>
          <a:ln w="9525">
            <a:solidFill>
              <a:srgbClr val="EEF2F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2542032" y="4553712"/>
            <a:ext cx="164592" cy="164592"/>
          </a:xfrm>
          <a:prstGeom prst="ellipse">
            <a:avLst/>
          </a:prstGeom>
          <a:solidFill>
            <a:srgbClr val="C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383280" y="4517136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6233A"/>
                </a:solidFill>
                <a:latin typeface="Calibri"/>
              </a:rPr>
              <a:t>Pemasangan IoT Lt 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4517136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6233A"/>
                </a:solidFill>
                <a:latin typeface="Calibri"/>
              </a:rPr>
              <a:t>Yayasan Cahaya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4517136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F8A00"/>
                </a:solidFill>
                <a:latin typeface="Consolas"/>
              </a:rPr>
              <a:t>0.88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84080" y="451713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CF8A00"/>
                </a:solidFill>
                <a:latin typeface="Calibri"/>
              </a:rPr>
              <a:t>-12%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2286000" y="4864608"/>
            <a:ext cx="9052560" cy="0"/>
          </a:xfrm>
          <a:prstGeom prst="bentConnector3">
            <a:avLst/>
          </a:prstGeom>
          <a:ln w="9525">
            <a:solidFill>
              <a:srgbClr val="EEF2F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2542032" y="4974336"/>
            <a:ext cx="164592" cy="164592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383280" y="493776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6233A"/>
                </a:solidFill>
                <a:latin typeface="Calibri"/>
              </a:rPr>
              <a:t>Instalasi Smart Office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0" y="493776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6233A"/>
                </a:solidFill>
                <a:latin typeface="Calibri"/>
              </a:rPr>
              <a:t>PT Maju Bersama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4937760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9E57"/>
                </a:solidFill>
                <a:latin typeface="Consolas"/>
              </a:rPr>
              <a:t>0.97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84080" y="4937760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9E57"/>
                </a:solidFill>
                <a:latin typeface="Calibri"/>
              </a:rPr>
              <a:t>-3%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286000" y="5285232"/>
            <a:ext cx="9052560" cy="0"/>
          </a:xfrm>
          <a:prstGeom prst="bentConnector3">
            <a:avLst/>
          </a:prstGeom>
          <a:ln w="9525">
            <a:solidFill>
              <a:srgbClr val="EEF2F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2286000" y="5440680"/>
            <a:ext cx="9052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D33A2C"/>
                </a:solidFill>
                <a:latin typeface="Calibri"/>
              </a:rPr>
              <a:t>Eskalasi terbaru:  </a:t>
            </a:r>
            <a:r>
              <a:rPr sz="1050" b="0" i="0">
                <a:solidFill>
                  <a:srgbClr val="5E6E86"/>
                </a:solidFill>
                <a:latin typeface="Calibri"/>
              </a:rPr>
              <a:t>Andi (Teknisi) - Cluster A: kabel utama tidak kompatibel - 07/05 08:50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7B8"/>
                </a:solidFill>
                <a:latin typeface="Calibri"/>
              </a:rPr>
              <a:t>Dashboard EWS - PT Smart Home Inovasi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95360" y="6455664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7B8"/>
                </a:solidFill>
                <a:latin typeface="Calibri"/>
              </a:rPr>
              <a:t>Dian Putri Iswandi - Sidang TA 2026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430000" y="25603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A9B6C8"/>
                </a:solidFill>
                <a:latin typeface="Consolas"/>
              </a:rPr>
              <a:t>08/15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5720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1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20624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3294B"/>
                </a:solidFill>
                <a:latin typeface="Georgia"/>
              </a:rPr>
              <a:t>Wireframe - Dashboard Teknisi (Performa)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542032" cy="105156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5E6E86"/>
                </a:solidFill>
                <a:latin typeface="Calibri"/>
              </a:rPr>
              <a:t>SPI SAYA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7373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CF8A00"/>
                </a:solidFill>
                <a:latin typeface="Georgia"/>
              </a:rPr>
              <a:t>0.94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E6E86"/>
                </a:solidFill>
                <a:latin typeface="Consolas"/>
              </a:rPr>
              <a:t>target &gt;= 0.95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371600"/>
            <a:ext cx="2542032" cy="105156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0" y="14813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5E6E86"/>
                </a:solidFill>
                <a:latin typeface="Calibri"/>
              </a:rPr>
              <a:t>TUGAS SELESAI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17373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6233A"/>
                </a:solidFill>
                <a:latin typeface="Georgia"/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57984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E6E86"/>
                </a:solidFill>
                <a:latin typeface="Consolas"/>
              </a:rPr>
              <a:t>30 hari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88736" y="1371600"/>
            <a:ext cx="2542032" cy="105156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53327" y="14813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5E6E86"/>
                </a:solidFill>
                <a:latin typeface="Calibri"/>
              </a:rPr>
              <a:t>TUGAS BERJALAN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7373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6233A"/>
                </a:solidFill>
                <a:latin typeface="Georg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327" y="2157984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E6E86"/>
                </a:solidFill>
                <a:latin typeface="Consolas"/>
              </a:rPr>
              <a:t>saat ini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58784" y="1371600"/>
            <a:ext cx="2542032" cy="105156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6510">
            <a:solidFill>
              <a:srgbClr val="D3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23376" y="14813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5E6E86"/>
                </a:solidFill>
                <a:latin typeface="Calibri"/>
              </a:rPr>
              <a:t>OVERDUE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5088" y="17373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D33A2C"/>
                </a:solidFill>
                <a:latin typeface="Georgia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3376" y="2157984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E6E86"/>
                </a:solidFill>
                <a:latin typeface="Consolas"/>
              </a:rPr>
              <a:t>perlu eskalasi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651760"/>
            <a:ext cx="512064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28346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3294B"/>
                </a:solidFill>
                <a:latin typeface="Calibri"/>
              </a:rPr>
              <a:t>Komposisi Status Tugas (30 hari)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31520" y="3154680"/>
          <a:ext cx="22860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4" name="Oval 23"/>
          <p:cNvSpPr/>
          <p:nvPr/>
        </p:nvSpPr>
        <p:spPr>
          <a:xfrm>
            <a:off x="3246120" y="3383280"/>
            <a:ext cx="146304" cy="146304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74720" y="3310128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6233A"/>
                </a:solidFill>
                <a:latin typeface="Calibri"/>
              </a:rPr>
              <a:t>Selesai (18)</a:t>
            </a:r>
          </a:p>
        </p:txBody>
      </p:sp>
      <p:sp>
        <p:nvSpPr>
          <p:cNvPr id="26" name="Oval 25"/>
          <p:cNvSpPr/>
          <p:nvPr/>
        </p:nvSpPr>
        <p:spPr>
          <a:xfrm>
            <a:off x="3246120" y="3794760"/>
            <a:ext cx="146304" cy="146304"/>
          </a:xfrm>
          <a:prstGeom prst="ellipse">
            <a:avLst/>
          </a:prstGeom>
          <a:solidFill>
            <a:srgbClr val="1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74720" y="3721608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6233A"/>
                </a:solidFill>
                <a:latin typeface="Calibri"/>
              </a:rPr>
              <a:t>To Do (4)</a:t>
            </a:r>
          </a:p>
        </p:txBody>
      </p:sp>
      <p:sp>
        <p:nvSpPr>
          <p:cNvPr id="28" name="Oval 27"/>
          <p:cNvSpPr/>
          <p:nvPr/>
        </p:nvSpPr>
        <p:spPr>
          <a:xfrm>
            <a:off x="3246120" y="4206240"/>
            <a:ext cx="146304" cy="146304"/>
          </a:xfrm>
          <a:prstGeom prst="ellipse">
            <a:avLst/>
          </a:prstGeom>
          <a:solidFill>
            <a:srgbClr val="C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74720" y="4133088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6233A"/>
                </a:solidFill>
                <a:latin typeface="Calibri"/>
              </a:rPr>
              <a:t>Working / Review (2)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2651760"/>
            <a:ext cx="5788152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80760" y="28346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3294B"/>
                </a:solidFill>
                <a:latin typeface="Calibri"/>
              </a:rPr>
              <a:t>Papan Tugas Saya (Kanban)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0" y="3200400"/>
            <a:ext cx="1783080" cy="2240280"/>
          </a:xfrm>
          <a:prstGeom prst="roundRect">
            <a:avLst>
              <a:gd name="adj" fmla="val 5000"/>
            </a:avLst>
          </a:prstGeom>
          <a:solidFill>
            <a:srgbClr val="F6F9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26479" y="327355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5E6E86"/>
                </a:solidFill>
                <a:latin typeface="Calibri"/>
              </a:rPr>
              <a:t>TO DO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79" y="3611880"/>
            <a:ext cx="16002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17920" y="3675888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16233A"/>
                </a:solidFill>
                <a:latin typeface="Calibri"/>
              </a:rPr>
              <a:t>Pasang sensor utama</a:t>
            </a:r>
          </a:p>
          <a:p>
            <a:pPr algn="l"/>
            <a:r>
              <a:rPr sz="900" b="0" i="0">
                <a:solidFill>
                  <a:srgbClr val="5E6E86"/>
                </a:solidFill>
                <a:latin typeface="Consolas"/>
              </a:rPr>
              <a:t>07/05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79" y="4251960"/>
            <a:ext cx="16002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17920" y="4315968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16233A"/>
                </a:solidFill>
                <a:latin typeface="Calibri"/>
              </a:rPr>
              <a:t>Tarik kabel lantai 2</a:t>
            </a:r>
          </a:p>
          <a:p>
            <a:pPr algn="l"/>
            <a:r>
              <a:rPr sz="900" b="0" i="0">
                <a:solidFill>
                  <a:srgbClr val="5E6E86"/>
                </a:solidFill>
                <a:latin typeface="Consolas"/>
              </a:rPr>
              <a:t>08/05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55279" y="3200400"/>
            <a:ext cx="1783080" cy="2240280"/>
          </a:xfrm>
          <a:prstGeom prst="roundRect">
            <a:avLst>
              <a:gd name="adj" fmla="val 5000"/>
            </a:avLst>
          </a:prstGeom>
          <a:solidFill>
            <a:srgbClr val="F6F9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46719" y="327355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5E6E86"/>
                </a:solidFill>
                <a:latin typeface="Calibri"/>
              </a:rPr>
              <a:t>WORKING ON 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19" y="3611880"/>
            <a:ext cx="16002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38159" y="3675888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16233A"/>
                </a:solidFill>
                <a:latin typeface="Calibri"/>
              </a:rPr>
              <a:t>Konfigurasi gateway</a:t>
            </a:r>
          </a:p>
          <a:p>
            <a:pPr algn="l"/>
            <a:r>
              <a:rPr sz="900" b="0" i="0">
                <a:solidFill>
                  <a:srgbClr val="5E6E86"/>
                </a:solidFill>
                <a:latin typeface="Consolas"/>
              </a:rPr>
              <a:t>+ bukti foto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75519" y="3200400"/>
            <a:ext cx="1783080" cy="2240280"/>
          </a:xfrm>
          <a:prstGeom prst="roundRect">
            <a:avLst>
              <a:gd name="adj" fmla="val 5000"/>
            </a:avLst>
          </a:prstGeom>
          <a:solidFill>
            <a:srgbClr val="F6F9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966959" y="327355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CF8A00"/>
                </a:solidFill>
                <a:latin typeface="Calibri"/>
              </a:rPr>
              <a:t>DONE  [manajer]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66959" y="3611880"/>
            <a:ext cx="16002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058399" y="3675888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16233A"/>
                </a:solidFill>
                <a:latin typeface="Calibri"/>
              </a:rPr>
              <a:t>Uji koneksi awal</a:t>
            </a:r>
          </a:p>
          <a:p>
            <a:pPr algn="l"/>
            <a:r>
              <a:rPr sz="900" b="0" i="0">
                <a:solidFill>
                  <a:srgbClr val="5E6E86"/>
                </a:solidFill>
                <a:latin typeface="Consolas"/>
              </a:rPr>
              <a:t>disetujui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0760" y="57150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88600"/>
                </a:solidFill>
                <a:latin typeface="Calibri"/>
              </a:rPr>
              <a:t>Review Gate:  </a:t>
            </a:r>
            <a:r>
              <a:rPr sz="1150" b="0" i="0">
                <a:solidFill>
                  <a:srgbClr val="16233A"/>
                </a:solidFill>
                <a:latin typeface="Calibri"/>
              </a:rPr>
              <a:t>teknisi geser to_do &lt;-&gt; working_on_it; status </a:t>
            </a:r>
            <a:r>
              <a:rPr sz="1150" b="1" i="0">
                <a:solidFill>
                  <a:srgbClr val="16233A"/>
                </a:solidFill>
                <a:latin typeface="Calibri"/>
              </a:rPr>
              <a:t>'Done' hanya disetujui Manajer.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7B8"/>
                </a:solidFill>
                <a:latin typeface="Calibri"/>
              </a:rPr>
              <a:t>Dashboard EWS - PT Smart Home Inovasi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6455664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7B8"/>
                </a:solidFill>
                <a:latin typeface="Calibri"/>
              </a:rPr>
              <a:t>Dian Putri Iswandi - Sidang TA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0" y="25603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A9B6C8"/>
                </a:solidFill>
                <a:latin typeface="Consolas"/>
              </a:rPr>
              <a:t>09/15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5720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1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20624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3294B"/>
                </a:solidFill>
                <a:latin typeface="Georgia"/>
              </a:rPr>
              <a:t>Implementasi (Coding)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3294B"/>
                </a:solidFill>
                <a:latin typeface="Calibri"/>
              </a:rPr>
              <a:t>TUMPUKAN TEKNOLOGI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001268" cy="384048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0012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3294B"/>
                </a:solidFill>
                <a:latin typeface="Consolas"/>
              </a:rPr>
              <a:t>Next.js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96212" y="1783080"/>
            <a:ext cx="809244" cy="384048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96212" y="1783080"/>
            <a:ext cx="80924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3294B"/>
                </a:solidFill>
                <a:latin typeface="Consolas"/>
              </a:rPr>
              <a:t>React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1783080"/>
            <a:ext cx="1289304" cy="384048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51760" y="1783080"/>
            <a:ext cx="12893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3294B"/>
                </a:solidFill>
                <a:latin typeface="Consolas"/>
              </a:rPr>
              <a:t>TypeScript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783080"/>
            <a:ext cx="1481328" cy="384048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87368" y="1783080"/>
            <a:ext cx="14813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3294B"/>
                </a:solidFill>
                <a:latin typeface="Consolas"/>
              </a:rPr>
              <a:t>Tailwind CSS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286000"/>
            <a:ext cx="1097280" cy="384048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286000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3294B"/>
                </a:solidFill>
                <a:latin typeface="Consolas"/>
              </a:rPr>
              <a:t>Recharts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92224" y="2286000"/>
            <a:ext cx="1001268" cy="384048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792224" y="2286000"/>
            <a:ext cx="10012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3294B"/>
                </a:solidFill>
                <a:latin typeface="Consolas"/>
              </a:rPr>
              <a:t>Node.js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39796" y="2286000"/>
            <a:ext cx="1289304" cy="384048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39796" y="2286000"/>
            <a:ext cx="12893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3294B"/>
                </a:solidFill>
                <a:latin typeface="Consolas"/>
              </a:rPr>
              <a:t>PostgreSQL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5404" y="2286000"/>
            <a:ext cx="617220" cy="384048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75404" y="2286000"/>
            <a:ext cx="6172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3294B"/>
                </a:solidFill>
                <a:latin typeface="Consolas"/>
              </a:rPr>
              <a:t>JWT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8803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3294B"/>
                </a:solidFill>
                <a:latin typeface="Calibri"/>
              </a:rPr>
              <a:t>MODUL TERBANGUN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246120"/>
            <a:ext cx="5394960" cy="566928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3246120"/>
            <a:ext cx="82296" cy="566928"/>
          </a:xfrm>
          <a:prstGeom prst="rect">
            <a:avLst/>
          </a:prstGeom>
          <a:solidFill>
            <a:srgbClr val="1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3310127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6233A"/>
                </a:solidFill>
                <a:latin typeface="Calibri"/>
              </a:rPr>
              <a:t>Autentikasi + RBAC  </a:t>
            </a:r>
            <a:r>
              <a:rPr sz="1150" b="0" i="0">
                <a:solidFill>
                  <a:srgbClr val="5E6E86"/>
                </a:solidFill>
                <a:latin typeface="Calibri"/>
              </a:rPr>
              <a:t>login JWT, pisah hak Teknisi/Manajer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904487"/>
            <a:ext cx="5394960" cy="566928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3904487"/>
            <a:ext cx="82296" cy="566928"/>
          </a:xfrm>
          <a:prstGeom prst="rect">
            <a:avLst/>
          </a:prstGeom>
          <a:solidFill>
            <a:srgbClr val="1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3968496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6233A"/>
                </a:solidFill>
                <a:latin typeface="Calibri"/>
              </a:rPr>
              <a:t>Kanban + Review Gate  </a:t>
            </a:r>
            <a:r>
              <a:rPr sz="1150" b="0" i="0">
                <a:solidFill>
                  <a:srgbClr val="5E6E86"/>
                </a:solidFill>
                <a:latin typeface="Calibri"/>
              </a:rPr>
              <a:t>ubah status tugas, unggah bukti, approve done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562855"/>
            <a:ext cx="5394960" cy="566928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" y="4562855"/>
            <a:ext cx="82296" cy="566928"/>
          </a:xfrm>
          <a:prstGeom prst="rect">
            <a:avLst/>
          </a:prstGeom>
          <a:solidFill>
            <a:srgbClr val="C8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4626864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6233A"/>
                </a:solidFill>
                <a:latin typeface="Calibri"/>
              </a:rPr>
              <a:t>Modul Komputasi EWS  </a:t>
            </a:r>
            <a:r>
              <a:rPr sz="1150" b="0" i="0">
                <a:solidFill>
                  <a:srgbClr val="5E6E86"/>
                </a:solidFill>
                <a:latin typeface="Calibri"/>
              </a:rPr>
              <a:t>SPI, PV/EV, klasifikasi RAG, urut kritis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221223"/>
            <a:ext cx="5394960" cy="566928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48640" y="5221223"/>
            <a:ext cx="82296" cy="566928"/>
          </a:xfrm>
          <a:prstGeom prst="rect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" y="5285231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6233A"/>
                </a:solidFill>
                <a:latin typeface="Calibri"/>
              </a:rPr>
              <a:t>Dashboard Analitik  </a:t>
            </a:r>
            <a:r>
              <a:rPr sz="1150" b="0" i="0">
                <a:solidFill>
                  <a:srgbClr val="5E6E86"/>
                </a:solidFill>
                <a:latin typeface="Calibri"/>
              </a:rPr>
              <a:t>grafik Recharts + eskalasi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1417320"/>
            <a:ext cx="53766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charts-imp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91640"/>
            <a:ext cx="5102352" cy="347423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400800" y="507492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E6E86"/>
                </a:solidFill>
                <a:latin typeface="Calibri"/>
              </a:rPr>
              <a:t>Implementasi nyata: dashboard analitik - beban kerja teknisi, distribusi &amp; tenggat tugas (Recharts).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7B8"/>
                </a:solidFill>
                <a:latin typeface="Calibri"/>
              </a:rPr>
              <a:t>Dashboard EWS - PT Smart Home Inovasi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6455664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7B8"/>
                </a:solidFill>
                <a:latin typeface="Calibri"/>
              </a:rPr>
              <a:t>Dian Putri Iswandi - Sidang TA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25603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A9B6C8"/>
                </a:solidFill>
                <a:latin typeface="Consolas"/>
              </a:rPr>
              <a:t>10/15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5720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1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20624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3294B"/>
                </a:solidFill>
                <a:latin typeface="Georgia"/>
              </a:rPr>
              <a:t>Algoritma: Laporan Harian -&gt; SPI -&gt; Indikator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852160" cy="713232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591056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1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5910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527048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5E6E86"/>
                </a:solidFill>
                <a:latin typeface="Calibri"/>
              </a:rPr>
              <a:t>Input - Laporan harian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527048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6233A"/>
                </a:solidFill>
                <a:latin typeface="Consolas"/>
              </a:rPr>
              <a:t>status tugas berubah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58568"/>
            <a:ext cx="5852160" cy="713232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13232" y="2432304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1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243230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368296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5E6E86"/>
                </a:solidFill>
                <a:latin typeface="Calibri"/>
              </a:rPr>
              <a:t>Earned Value (EV) - % tugas selesai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68296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E9E57"/>
                </a:solidFill>
                <a:latin typeface="Consolas"/>
              </a:rPr>
              <a:t>11 / 20 = 55%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99816"/>
            <a:ext cx="5852160" cy="713232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13232" y="3273552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1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327355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209544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5E6E86"/>
                </a:solidFill>
                <a:latin typeface="Calibri"/>
              </a:rPr>
              <a:t>Planned Value (PV) - hari berjalan / durasi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209544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F6FE0"/>
                </a:solidFill>
                <a:latin typeface="Consolas"/>
              </a:rPr>
              <a:t>54 / 90 = 60%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41064"/>
            <a:ext cx="5852160" cy="713232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9050">
            <a:solidFill>
              <a:srgbClr val="CF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13232" y="4114800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C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4114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050792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5E6E86"/>
                </a:solidFill>
                <a:latin typeface="Calibri"/>
              </a:rPr>
              <a:t>SPI = EV / PV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050792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C88600"/>
                </a:solidFill>
                <a:latin typeface="Consolas"/>
              </a:rPr>
              <a:t>0.55 / 0.60 = 0.92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92040"/>
            <a:ext cx="5852160" cy="96012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5029200"/>
            <a:ext cx="5486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16233A"/>
                </a:solidFill>
                <a:latin typeface="Consolas"/>
              </a:rPr>
              <a:t>SPI = (tugas selesai/total) / (hari berjalan/durasi)</a:t>
            </a:r>
          </a:p>
          <a:p>
            <a:pPr algn="ctr"/>
            <a:r>
              <a:rPr sz="1500" b="0" i="0">
                <a:solidFill>
                  <a:srgbClr val="16233A"/>
                </a:solidFill>
                <a:latin typeface="Consolas"/>
              </a:rPr>
              <a:t>= (11/20) / (54/90) = </a:t>
            </a:r>
            <a:r>
              <a:rPr sz="1600" b="1" i="0">
                <a:solidFill>
                  <a:srgbClr val="C88600"/>
                </a:solidFill>
                <a:latin typeface="Consolas"/>
              </a:rPr>
              <a:t>0.92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14173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3294B"/>
                </a:solidFill>
                <a:latin typeface="Calibri"/>
              </a:rPr>
              <a:t>5. PEMETAAN RAG (OTOMATIS)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20840" y="1828800"/>
            <a:ext cx="4919472" cy="658368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949440" y="2066543"/>
            <a:ext cx="182880" cy="182880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0" y="1828800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6233A"/>
                </a:solidFill>
                <a:latin typeface="Consolas"/>
              </a:rPr>
              <a:t>SPI &gt;= 0.95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1828800"/>
            <a:ext cx="21945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5E6E86"/>
                </a:solidFill>
                <a:latin typeface="Calibri"/>
              </a:rPr>
              <a:t>Hijau - on track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20840" y="2606040"/>
            <a:ext cx="4919472" cy="658368"/>
          </a:xfrm>
          <a:prstGeom prst="roundRect">
            <a:avLst>
              <a:gd name="adj" fmla="val 6000"/>
            </a:avLst>
          </a:prstGeom>
          <a:solidFill>
            <a:srgbClr val="FCF4E2"/>
          </a:solidFill>
          <a:ln w="20320">
            <a:solidFill>
              <a:srgbClr val="CF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949440" y="2843784"/>
            <a:ext cx="182880" cy="182880"/>
          </a:xfrm>
          <a:prstGeom prst="ellipse">
            <a:avLst/>
          </a:prstGeom>
          <a:solidFill>
            <a:srgbClr val="C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15200" y="2606040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6233A"/>
                </a:solidFill>
                <a:latin typeface="Consolas"/>
              </a:rPr>
              <a:t>0.85 &lt;= SPI &lt; 0.95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2606040"/>
            <a:ext cx="21945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CF8A00"/>
                </a:solidFill>
                <a:latin typeface="Calibri"/>
              </a:rPr>
              <a:t>Kuning - peringatan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20840" y="3383280"/>
            <a:ext cx="4919472" cy="658368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949440" y="3621024"/>
            <a:ext cx="182880" cy="182880"/>
          </a:xfrm>
          <a:prstGeom prst="ellipse">
            <a:avLst/>
          </a:prstGeom>
          <a:solidFill>
            <a:srgbClr val="D3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0" y="3383280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6233A"/>
                </a:solidFill>
                <a:latin typeface="Consolas"/>
              </a:rPr>
              <a:t>SPI &lt; 0.85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3383280"/>
            <a:ext cx="21945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5E6E86"/>
                </a:solidFill>
                <a:latin typeface="Calibri"/>
              </a:rPr>
              <a:t>Merah - kritis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720840" y="4297680"/>
            <a:ext cx="4919472" cy="1554480"/>
          </a:xfrm>
          <a:prstGeom prst="roundRect">
            <a:avLst>
              <a:gd name="adj" fmla="val 6000"/>
            </a:avLst>
          </a:prstGeom>
          <a:solidFill>
            <a:srgbClr val="FCF4E2"/>
          </a:solidFill>
          <a:ln w="12700">
            <a:solidFill>
              <a:srgbClr val="EBD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949440" y="4480560"/>
            <a:ext cx="448056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6233A"/>
                </a:solidFill>
                <a:latin typeface="Calibri"/>
              </a:rPr>
              <a:t>SPI </a:t>
            </a:r>
            <a:r>
              <a:rPr sz="1350" b="1" i="0">
                <a:solidFill>
                  <a:srgbClr val="C88600"/>
                </a:solidFill>
                <a:latin typeface="Calibri"/>
              </a:rPr>
              <a:t>0.92</a:t>
            </a:r>
            <a:r>
              <a:rPr sz="1350" b="0" i="0">
                <a:solidFill>
                  <a:srgbClr val="16233A"/>
                </a:solidFill>
                <a:latin typeface="Calibri"/>
              </a:rPr>
              <a:t> jatuh di rentang kuning -&gt; sistem otomatis menandai proyek </a:t>
            </a:r>
            <a:r>
              <a:rPr sz="1350" b="1" i="0">
                <a:solidFill>
                  <a:srgbClr val="CF8A00"/>
                </a:solidFill>
                <a:latin typeface="Calibri"/>
              </a:rPr>
              <a:t>PERINGATAN</a:t>
            </a:r>
            <a:r>
              <a:rPr sz="1350" b="0" i="0">
                <a:solidFill>
                  <a:srgbClr val="16233A"/>
                </a:solidFill>
                <a:latin typeface="Calibri"/>
              </a:rPr>
              <a:t> &amp; menaikkan urutannya di dashboard. Tanpa input persen manual.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7B8"/>
                </a:solidFill>
                <a:latin typeface="Calibri"/>
              </a:rPr>
              <a:t>Dashboard EWS - PT Smart Home Inovasi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6455664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7B8"/>
                </a:solidFill>
                <a:latin typeface="Calibri"/>
              </a:rPr>
              <a:t>Dian Putri Iswandi - Sidang TA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0" y="25603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A9B6C8"/>
                </a:solidFill>
                <a:latin typeface="Consolas"/>
              </a:rPr>
              <a:t>11/15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5720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1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20624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3294B"/>
                </a:solidFill>
                <a:latin typeface="Georgia"/>
              </a:rPr>
              <a:t>Pengujian (Testing)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2412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>
                <a:solidFill>
                  <a:srgbClr val="5E6E86"/>
                </a:solidFill>
                <a:latin typeface="Calibri"/>
              </a:rPr>
              <a:t>Metode Black Box - fokus kesesuaian input/output pada skenario interaksi Manajer &amp; Teknisi.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2679192" cy="109728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26791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i="0">
                <a:solidFill>
                  <a:srgbClr val="1F6FE0"/>
                </a:solidFill>
                <a:latin typeface="Georgia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26791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150" b="1" i="0">
                <a:solidFill>
                  <a:srgbClr val="16233A"/>
                </a:solidFill>
                <a:latin typeface="Calibri"/>
              </a:rPr>
              <a:t>TC-AUTH</a:t>
            </a:r>
          </a:p>
          <a:p>
            <a:pPr algn="ctr"/>
            <a:r>
              <a:rPr sz="1050" b="0" i="0">
                <a:solidFill>
                  <a:srgbClr val="5E6E86"/>
                </a:solidFill>
                <a:latin typeface="Calibri"/>
              </a:rPr>
              <a:t>Autentikasi &amp; RBAC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600200"/>
            <a:ext cx="2679192" cy="109728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37560" y="1737360"/>
            <a:ext cx="26791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i="0">
                <a:solidFill>
                  <a:srgbClr val="C88600"/>
                </a:solidFill>
                <a:latin typeface="Georgia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212848"/>
            <a:ext cx="26791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150" b="1" i="0">
                <a:solidFill>
                  <a:srgbClr val="16233A"/>
                </a:solidFill>
                <a:latin typeface="Calibri"/>
              </a:rPr>
              <a:t>TC-MN</a:t>
            </a:r>
          </a:p>
          <a:p>
            <a:pPr algn="ctr"/>
            <a:r>
              <a:rPr sz="1050" b="0" i="0">
                <a:solidFill>
                  <a:srgbClr val="5E6E86"/>
                </a:solidFill>
                <a:latin typeface="Calibri"/>
              </a:rPr>
              <a:t>Skenario Manajer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600200"/>
            <a:ext cx="2679192" cy="109728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79" y="1737360"/>
            <a:ext cx="26791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i="0">
                <a:solidFill>
                  <a:srgbClr val="1E9E57"/>
                </a:solidFill>
                <a:latin typeface="Georgia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9" y="2212848"/>
            <a:ext cx="26791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150" b="1" i="0">
                <a:solidFill>
                  <a:srgbClr val="16233A"/>
                </a:solidFill>
                <a:latin typeface="Calibri"/>
              </a:rPr>
              <a:t>TC-TK</a:t>
            </a:r>
          </a:p>
          <a:p>
            <a:pPr algn="ctr"/>
            <a:r>
              <a:rPr sz="1050" b="0" i="0">
                <a:solidFill>
                  <a:srgbClr val="5E6E86"/>
                </a:solidFill>
                <a:latin typeface="Calibri"/>
              </a:rPr>
              <a:t>Skenario Teknisi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1600200"/>
            <a:ext cx="2679192" cy="109728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15400" y="1737360"/>
            <a:ext cx="26791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i="0">
                <a:solidFill>
                  <a:srgbClr val="8A5CD6"/>
                </a:solidFill>
                <a:latin typeface="Georg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212848"/>
            <a:ext cx="26791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150" b="1" i="0">
                <a:solidFill>
                  <a:srgbClr val="16233A"/>
                </a:solidFill>
                <a:latin typeface="Calibri"/>
              </a:rPr>
              <a:t>TC-SYS</a:t>
            </a:r>
          </a:p>
          <a:p>
            <a:pPr algn="ctr"/>
            <a:r>
              <a:rPr sz="1050" b="0" i="0">
                <a:solidFill>
                  <a:srgbClr val="5E6E86"/>
                </a:solidFill>
                <a:latin typeface="Calibri"/>
              </a:rPr>
              <a:t>Komputasi Sistem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971800"/>
            <a:ext cx="11091672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15468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E6E86"/>
                </a:solidFill>
                <a:latin typeface="Calibri"/>
              </a:rPr>
              <a:t>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15468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E6E86"/>
                </a:solidFill>
                <a:latin typeface="Calibri"/>
              </a:rPr>
              <a:t>SKENARIO KUNCI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1546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5E6E86"/>
                </a:solidFill>
                <a:latin typeface="Calibri"/>
              </a:rPr>
              <a:t>HASIL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3456432"/>
            <a:ext cx="10652760" cy="0"/>
          </a:xfrm>
          <a:prstGeom prst="bentConnector3">
            <a:avLst/>
          </a:prstGeom>
          <a:ln w="12700">
            <a:solidFill>
              <a:srgbClr val="D3DE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7240" y="356616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E6E86"/>
                </a:solidFill>
                <a:latin typeface="Consolas"/>
              </a:rPr>
              <a:t>TC-AUTH-03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3566160"/>
            <a:ext cx="6949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6233A"/>
                </a:solidFill>
                <a:latin typeface="Calibri"/>
              </a:rPr>
              <a:t>Teknisi diblokir akses dashboard manajer via URL (RBAC)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0" y="353872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E7F4EC"/>
          </a:solidFill>
          <a:ln w="12700">
            <a:solidFill>
              <a:srgbClr val="BFE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0" y="3538728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1E9E57"/>
                </a:solidFill>
                <a:latin typeface="Calibri"/>
              </a:rPr>
              <a:t>Valid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7240" y="3931920"/>
            <a:ext cx="10652760" cy="0"/>
          </a:xfrm>
          <a:prstGeom prst="bentConnector3">
            <a:avLst/>
          </a:prstGeom>
          <a:ln w="9525">
            <a:solidFill>
              <a:srgbClr val="EEF2F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77240" y="402336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E6E86"/>
                </a:solidFill>
                <a:latin typeface="Consolas"/>
              </a:rPr>
              <a:t>TC-MN-03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4023360"/>
            <a:ext cx="6949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6233A"/>
                </a:solidFill>
                <a:latin typeface="Calibri"/>
              </a:rPr>
              <a:t>Review gate: manajer tinjau bukti -&gt; status Done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0" y="399592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E7F4EC"/>
          </a:solidFill>
          <a:ln w="12700">
            <a:solidFill>
              <a:srgbClr val="BFE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58400" y="3995928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1E9E57"/>
                </a:solidFill>
                <a:latin typeface="Calibri"/>
              </a:rPr>
              <a:t>Valid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7240" y="4389120"/>
            <a:ext cx="10652760" cy="0"/>
          </a:xfrm>
          <a:prstGeom prst="bentConnector3">
            <a:avLst/>
          </a:prstGeom>
          <a:ln w="9525">
            <a:solidFill>
              <a:srgbClr val="EEF2F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77240" y="448056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E6E86"/>
                </a:solidFill>
                <a:latin typeface="Consolas"/>
              </a:rPr>
              <a:t>TC-SYS-01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4480560"/>
            <a:ext cx="6949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6233A"/>
                </a:solidFill>
                <a:latin typeface="Calibri"/>
              </a:rPr>
              <a:t>Hitung EV otomatis dari bobot penugasan disetujui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445312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E7F4EC"/>
          </a:solidFill>
          <a:ln w="12700">
            <a:solidFill>
              <a:srgbClr val="BFE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58400" y="4453128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1E9E57"/>
                </a:solidFill>
                <a:latin typeface="Calibri"/>
              </a:rPr>
              <a:t>Valid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77240" y="4846320"/>
            <a:ext cx="10652760" cy="0"/>
          </a:xfrm>
          <a:prstGeom prst="bentConnector3">
            <a:avLst/>
          </a:prstGeom>
          <a:ln w="9525">
            <a:solidFill>
              <a:srgbClr val="EEF2F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77240" y="493776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88600"/>
                </a:solidFill>
                <a:latin typeface="Consolas"/>
              </a:rPr>
              <a:t>TC-SYS-02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0320" y="4937760"/>
            <a:ext cx="6949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6233A"/>
                </a:solidFill>
                <a:latin typeface="Calibri"/>
              </a:rPr>
              <a:t>Hitung SPI (EV vs PV) -&gt; render warna RAG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58400" y="491032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E7F4EC"/>
          </a:solidFill>
          <a:ln w="12700">
            <a:solidFill>
              <a:srgbClr val="BFE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058400" y="4910328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1E9E57"/>
                </a:solidFill>
                <a:latin typeface="Calibri"/>
              </a:rPr>
              <a:t>Valid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77240" y="5303520"/>
            <a:ext cx="10652760" cy="0"/>
          </a:xfrm>
          <a:prstGeom prst="bentConnector3">
            <a:avLst/>
          </a:prstGeom>
          <a:ln w="9525">
            <a:solidFill>
              <a:srgbClr val="EEF2F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77240" y="539496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E6E86"/>
                </a:solidFill>
                <a:latin typeface="Consolas"/>
              </a:rPr>
              <a:t>TC-SYS-03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0320" y="5394960"/>
            <a:ext cx="6949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6233A"/>
                </a:solidFill>
                <a:latin typeface="Calibri"/>
              </a:rPr>
              <a:t>Agregasi + urutkan proyek kritis ke atas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58400" y="536752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E7F4EC"/>
          </a:solidFill>
          <a:ln w="12700">
            <a:solidFill>
              <a:srgbClr val="BFE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058400" y="5367528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1E9E57"/>
                </a:solidFill>
                <a:latin typeface="Calibri"/>
              </a:rPr>
              <a:t>Valid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77240" y="5760720"/>
            <a:ext cx="10652760" cy="0"/>
          </a:xfrm>
          <a:prstGeom prst="bentConnector3">
            <a:avLst/>
          </a:prstGeom>
          <a:ln w="9525">
            <a:solidFill>
              <a:srgbClr val="EEF2F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548640" y="5257800"/>
            <a:ext cx="11091672" cy="685800"/>
          </a:xfrm>
          <a:prstGeom prst="roundRect">
            <a:avLst>
              <a:gd name="adj" fmla="val 6000"/>
            </a:avLst>
          </a:prstGeom>
          <a:solidFill>
            <a:srgbClr val="E7F4EC"/>
          </a:solidFill>
          <a:ln w="12700">
            <a:solidFill>
              <a:srgbClr val="BFE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77240" y="54132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16233A"/>
                </a:solidFill>
                <a:latin typeface="Calibri"/>
              </a:rPr>
              <a:t>Seluruh skenario inti komputasi (TC-SYS-01..04) </a:t>
            </a:r>
            <a:r>
              <a:rPr sz="1350" b="1" i="0">
                <a:solidFill>
                  <a:srgbClr val="1E9E57"/>
                </a:solidFill>
                <a:latin typeface="Calibri"/>
              </a:rPr>
              <a:t>Valid</a:t>
            </a:r>
            <a:r>
              <a:rPr sz="1350" b="0" i="0">
                <a:solidFill>
                  <a:srgbClr val="16233A"/>
                </a:solidFill>
                <a:latin typeface="Calibri"/>
              </a:rPr>
              <a:t> - mesin EWS terbukti menghitung &amp; mewarnai dengan benar.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7B8"/>
                </a:solidFill>
                <a:latin typeface="Calibri"/>
              </a:rPr>
              <a:t>Dashboard EWS - PT Smart Home Inovasi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60" y="6455664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7B8"/>
                </a:solidFill>
                <a:latin typeface="Calibri"/>
              </a:rPr>
              <a:t>Dian Putri Iswandi - Sidang TA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30000" y="25603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A9B6C8"/>
                </a:solidFill>
                <a:latin typeface="Consolas"/>
              </a:rPr>
              <a:t>12/15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5720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1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20624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3294B"/>
                </a:solidFill>
                <a:latin typeface="Georgia"/>
              </a:rPr>
              <a:t>Metrik Keberhasilan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371600"/>
          <a:ext cx="2743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237744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 i="0">
                <a:solidFill>
                  <a:srgbClr val="1E9E57"/>
                </a:solidFill>
                <a:latin typeface="Georgia"/>
              </a:rPr>
              <a:t>83,33%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E6E86"/>
                </a:solidFill>
                <a:latin typeface="Calibri"/>
              </a:rPr>
              <a:t>tingkat valid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600200"/>
            <a:ext cx="2377440" cy="118872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69080" y="178308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16233A"/>
                </a:solidFill>
                <a:latin typeface="Georgia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239572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E6E86"/>
                </a:solidFill>
                <a:latin typeface="Calibri"/>
              </a:rPr>
              <a:t>Total Skenario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600200"/>
            <a:ext cx="2377440" cy="118872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7780">
            <a:solidFill>
              <a:srgbClr val="1E9E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78308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1E9E57"/>
                </a:solidFill>
                <a:latin typeface="Georgia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9572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E6E86"/>
                </a:solidFill>
                <a:latin typeface="Calibri"/>
              </a:rPr>
              <a:t>Valid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600200"/>
            <a:ext cx="2377440" cy="118872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7780">
            <a:solidFill>
              <a:srgbClr val="D3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98280" y="178308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D33A2C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39572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E6E86"/>
                </a:solidFill>
                <a:latin typeface="Calibri"/>
              </a:rPr>
              <a:t>Tidak Valid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69080" y="2971800"/>
            <a:ext cx="7571231" cy="914400"/>
          </a:xfrm>
          <a:prstGeom prst="roundRect">
            <a:avLst>
              <a:gd name="adj" fmla="val 6000"/>
            </a:avLst>
          </a:prstGeom>
          <a:solidFill>
            <a:srgbClr val="E7F4EC"/>
          </a:solidFill>
          <a:ln w="12700">
            <a:solidFill>
              <a:srgbClr val="BFE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0" y="3127248"/>
            <a:ext cx="71323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1E9E57"/>
                </a:solidFill>
                <a:latin typeface="Calibri"/>
              </a:rPr>
              <a:t>Fitur komputasi EWS berfungsi akurat.  </a:t>
            </a:r>
            <a:r>
              <a:rPr sz="1300" b="0" i="0">
                <a:solidFill>
                  <a:srgbClr val="16233A"/>
                </a:solidFill>
                <a:latin typeface="Calibri"/>
              </a:rPr>
              <a:t>Ketiga temuan minor bukan pada inti perhitungan EWS, melainkan penyempurnaan UX/keamanan - menjadi bahan pemeliharaan korektif.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160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3294B"/>
                </a:solidFill>
                <a:latin typeface="Calibri"/>
              </a:rPr>
              <a:t>3 TEMUAN MINOR (-&gt; PERBAIKAN)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26280"/>
            <a:ext cx="3611880" cy="105156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526280"/>
            <a:ext cx="82296" cy="1051560"/>
          </a:xfrm>
          <a:prstGeom prst="rect">
            <a:avLst/>
          </a:prstGeom>
          <a:solidFill>
            <a:srgbClr val="C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663440"/>
            <a:ext cx="3246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88600"/>
                </a:solidFill>
                <a:latin typeface="Consolas"/>
              </a:rPr>
              <a:t>TC-MN-04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6233A"/>
                </a:solidFill>
                <a:latin typeface="Calibri"/>
              </a:rPr>
              <a:t>Indikator EWS belum real-time - butuh refresh manual.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70248" y="4526280"/>
            <a:ext cx="3611880" cy="105156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70248" y="4526280"/>
            <a:ext cx="82296" cy="1051560"/>
          </a:xfrm>
          <a:prstGeom prst="rect">
            <a:avLst/>
          </a:prstGeom>
          <a:solidFill>
            <a:srgbClr val="C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98848" y="4663440"/>
            <a:ext cx="3246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88600"/>
                </a:solidFill>
                <a:latin typeface="Consolas"/>
              </a:rPr>
              <a:t>TC-TK-03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6233A"/>
                </a:solidFill>
                <a:latin typeface="Calibri"/>
              </a:rPr>
              <a:t>Validasi unggah berkas (.exe) masih lolos.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91856" y="4526280"/>
            <a:ext cx="3611880" cy="105156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991856" y="4526280"/>
            <a:ext cx="82296" cy="1051560"/>
          </a:xfrm>
          <a:prstGeom prst="rect">
            <a:avLst/>
          </a:prstGeom>
          <a:solidFill>
            <a:srgbClr val="C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0456" y="4663440"/>
            <a:ext cx="3246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88600"/>
                </a:solidFill>
                <a:latin typeface="Consolas"/>
              </a:rPr>
              <a:t>TC-TK-06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6233A"/>
                </a:solidFill>
                <a:latin typeface="Calibri"/>
              </a:rPr>
              <a:t>Klik ganda "Kirim" menyebabkan laporan duplikat.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7B8"/>
                </a:solidFill>
                <a:latin typeface="Calibri"/>
              </a:rPr>
              <a:t>Dashboard EWS - PT Smart Home Inovasi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6455664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7B8"/>
                </a:solidFill>
                <a:latin typeface="Calibri"/>
              </a:rPr>
              <a:t>Dian Putri Iswandi - Sidang TA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25603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A9B6C8"/>
                </a:solidFill>
                <a:latin typeface="Consolas"/>
              </a:rPr>
              <a:t>13/15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5720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1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20624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3294B"/>
                </a:solidFill>
                <a:latin typeface="Georgia"/>
              </a:rPr>
              <a:t>Pemeliharaan (Maintenance)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2412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>
                <a:solidFill>
                  <a:srgbClr val="5E6E86"/>
                </a:solidFill>
                <a:latin typeface="Calibri"/>
              </a:rPr>
              <a:t>Empat jenis pemeliharaan perangkat lunak untuk menjaga sistem tetap andal &amp; relevan.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2679192" cy="210312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2679192" cy="91440"/>
          </a:xfrm>
          <a:prstGeom prst="rect">
            <a:avLst/>
          </a:prstGeom>
          <a:solidFill>
            <a:srgbClr val="D3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965960"/>
            <a:ext cx="22860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6233A"/>
                </a:solidFill>
                <a:latin typeface="Georgia"/>
              </a:rPr>
              <a:t>Korektif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E6E86"/>
                </a:solidFill>
                <a:latin typeface="Calibri"/>
              </a:rPr>
              <a:t>Perbaiki 3 temuan uji: refresh real-time, validasi unggah, anti double-submit.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6704" y="1691640"/>
            <a:ext cx="2679192" cy="210312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46704" y="1691640"/>
            <a:ext cx="2679192" cy="91440"/>
          </a:xfrm>
          <a:prstGeom prst="rect">
            <a:avLst/>
          </a:prstGeom>
          <a:solidFill>
            <a:srgbClr val="1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47872" y="1965960"/>
            <a:ext cx="22860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6233A"/>
                </a:solidFill>
                <a:latin typeface="Georgia"/>
              </a:rPr>
              <a:t>Adaptif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E6E86"/>
                </a:solidFill>
                <a:latin typeface="Calibri"/>
              </a:rPr>
              <a:t>Selaras dengan perubahan versi Next.js, PostgreSQL, peramban &amp; sistem operasi.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691640"/>
            <a:ext cx="2679192" cy="210312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44768" y="1691640"/>
            <a:ext cx="2679192" cy="91440"/>
          </a:xfrm>
          <a:prstGeom prst="rect">
            <a:avLst/>
          </a:prstGeom>
          <a:solidFill>
            <a:srgbClr val="C8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45936" y="1965960"/>
            <a:ext cx="22860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6233A"/>
                </a:solidFill>
                <a:latin typeface="Georgia"/>
              </a:rPr>
              <a:t>Perfektif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E6E86"/>
                </a:solidFill>
                <a:latin typeface="Calibri"/>
              </a:rPr>
              <a:t>Tingkatkan fitur: notifikasi otomatis, aplikasi mobile teknisi, dashboard biaya.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42832" y="1691640"/>
            <a:ext cx="2679192" cy="210312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942832" y="1691640"/>
            <a:ext cx="2679192" cy="91440"/>
          </a:xfrm>
          <a:prstGeom prst="rect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0" y="1965960"/>
            <a:ext cx="22860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6233A"/>
                </a:solidFill>
                <a:latin typeface="Georgia"/>
              </a:rPr>
              <a:t>Preventif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E6E86"/>
                </a:solidFill>
                <a:latin typeface="Calibri"/>
              </a:rPr>
              <a:t>Backup berkala, pemantauan kinerja, audit keamanan &amp; RBAC.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14800"/>
            <a:ext cx="11091672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2976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3294B"/>
                </a:solidFill>
                <a:latin typeface="Calibri"/>
              </a:rPr>
              <a:t>SARAN PENGEMBANGAN (BAB VI)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09160"/>
            <a:ext cx="2884932" cy="457200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6510">
            <a:solidFill>
              <a:srgbClr val="1F6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4709160"/>
            <a:ext cx="28849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F6FE0"/>
                </a:solidFill>
                <a:latin typeface="Calibri"/>
              </a:rPr>
              <a:t>Aplikasi mobile untuk teknisi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90772" y="4709160"/>
            <a:ext cx="2624328" cy="457200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6510">
            <a:solidFill>
              <a:srgbClr val="C88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90772" y="4709160"/>
            <a:ext cx="26243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C88600"/>
                </a:solidFill>
                <a:latin typeface="Calibri"/>
              </a:rPr>
              <a:t>Notifikasi otomatis (push)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43700" y="4709160"/>
            <a:ext cx="2798064" cy="457200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6510">
            <a:solidFill>
              <a:srgbClr val="1E9E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43700" y="4709160"/>
            <a:ext cx="279806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E9E57"/>
                </a:solidFill>
                <a:latin typeface="Calibri"/>
              </a:rPr>
              <a:t>Integrasi aspek biaya proyek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7B8"/>
                </a:solidFill>
                <a:latin typeface="Calibri"/>
              </a:rPr>
              <a:t>Dashboard EWS - PT Smart Home Inovasi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6455664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7B8"/>
                </a:solidFill>
                <a:latin typeface="Calibri"/>
              </a:rPr>
              <a:t>Dian Putri Iswandi - Sidang TA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25603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A9B6C8"/>
                </a:solidFill>
                <a:latin typeface="Consolas"/>
              </a:rPr>
              <a:t>14/15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C88600"/>
                </a:solidFill>
                <a:latin typeface="Calibri"/>
              </a:rPr>
              <a:t>PENUTUP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 i="0">
                <a:solidFill>
                  <a:srgbClr val="13294B"/>
                </a:solidFill>
                <a:latin typeface="Georgia"/>
              </a:rPr>
              <a:t>Dashboard berhasil mengubah </a:t>
            </a:r>
            <a:r>
              <a:rPr sz="2900" b="1" i="0">
                <a:solidFill>
                  <a:srgbClr val="C88600"/>
                </a:solidFill>
                <a:latin typeface="Georgia"/>
              </a:rPr>
              <a:t>data laporan harian</a:t>
            </a:r>
            <a:r>
              <a:rPr sz="2900" b="1" i="0">
                <a:solidFill>
                  <a:srgbClr val="13294B"/>
                </a:solidFill>
                <a:latin typeface="Georgia"/>
              </a:rPr>
              <a:t> menjadi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2900" b="1" i="0">
                <a:solidFill>
                  <a:srgbClr val="1F6FE0"/>
                </a:solidFill>
                <a:latin typeface="Georgia"/>
              </a:rPr>
              <a:t>indikator visual kesehatan proyek</a:t>
            </a:r>
            <a:r>
              <a:rPr sz="2900" b="1" i="0">
                <a:solidFill>
                  <a:srgbClr val="13294B"/>
                </a:solidFill>
                <a:latin typeface="Georgia"/>
              </a:rPr>
              <a:t> secara otomatis.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92608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E7F4EC"/>
          </a:solidFill>
          <a:ln w="12700">
            <a:solidFill>
              <a:srgbClr val="BFE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3108960"/>
            <a:ext cx="49377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E9E57"/>
                </a:solidFill>
                <a:latin typeface="Calibri"/>
              </a:rPr>
              <a:t>Tujuan tercapai.  </a:t>
            </a:r>
            <a:r>
              <a:rPr sz="1300" b="0" i="0">
                <a:solidFill>
                  <a:srgbClr val="16233A"/>
                </a:solidFill>
                <a:latin typeface="Calibri"/>
              </a:rPr>
              <a:t>Deteksi keterlambatan kini preventif - SPI -&gt; RAG -&gt; proyek kritis tampil teratas. Pengujian 83,33% valid; inti EWS akurat.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926080"/>
            <a:ext cx="5239512" cy="137160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3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0" y="310896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3294B"/>
                </a:solidFill>
                <a:latin typeface="Calibri"/>
              </a:rPr>
              <a:t>Kontribusi:  </a:t>
            </a:r>
            <a:r>
              <a:rPr sz="1300" b="0" i="0">
                <a:solidFill>
                  <a:srgbClr val="5E6E86"/>
                </a:solidFill>
                <a:latin typeface="Calibri"/>
              </a:rPr>
              <a:t>akses langsung teknisi, dashboard EWS terpusat, komputasi SPI otomatis, peringatan dini berbasis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13294B"/>
                </a:solidFill>
                <a:latin typeface="Georgia"/>
              </a:rPr>
              <a:t>Terima Kasih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897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E6E86"/>
                </a:solidFill>
                <a:latin typeface="Calibri"/>
              </a:rPr>
              <a:t>Sesi Tanya Jawab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5532120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100"/>
              </a:spcAft>
            </a:pPr>
            <a:r>
              <a:rPr sz="1400" b="1" i="0">
                <a:solidFill>
                  <a:srgbClr val="16233A"/>
                </a:solidFill>
                <a:latin typeface="Calibri"/>
              </a:rPr>
              <a:t>Dian Putri Iswandi</a:t>
            </a:r>
          </a:p>
          <a:p>
            <a:pPr algn="r"/>
            <a:r>
              <a:rPr sz="1100" b="0" i="0">
                <a:solidFill>
                  <a:srgbClr val="5E6E86"/>
                </a:solidFill>
                <a:latin typeface="Consolas"/>
              </a:rPr>
              <a:t>5220311118 - UTY 2026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617720"/>
            <a:ext cx="182880" cy="182880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52144" y="4617720"/>
            <a:ext cx="182880" cy="182880"/>
          </a:xfrm>
          <a:prstGeom prst="ellipse">
            <a:avLst/>
          </a:prstGeom>
          <a:solidFill>
            <a:srgbClr val="C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463040" y="4617720"/>
            <a:ext cx="182880" cy="182880"/>
          </a:xfrm>
          <a:prstGeom prst="ellipse">
            <a:avLst/>
          </a:prstGeom>
          <a:solidFill>
            <a:srgbClr val="D3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0" y="25603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A9B6C8"/>
                </a:solidFill>
                <a:latin typeface="Consolas"/>
              </a:rPr>
              <a:t>15/15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1541</Words>
  <Application>Microsoft Office PowerPoint</Application>
  <PresentationFormat>Widescreen</PresentationFormat>
  <Paragraphs>340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FATIH AZIZ</cp:lastModifiedBy>
  <cp:revision>2</cp:revision>
  <dcterms:created xsi:type="dcterms:W3CDTF">2013-01-27T09:14:16Z</dcterms:created>
  <dcterms:modified xsi:type="dcterms:W3CDTF">2026-06-16T22:45:17Z</dcterms:modified>
  <cp:category/>
</cp:coreProperties>
</file>