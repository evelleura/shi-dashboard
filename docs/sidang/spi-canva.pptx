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926080" y="-3291840"/>
            <a:ext cx="7772400" cy="7772400"/>
          </a:xfrm>
          <a:prstGeom prst="ellipse">
            <a:avLst/>
          </a:prstGeom>
          <a:solidFill>
            <a:srgbClr val="1B367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2D5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0"/>
            <a:ext cx="365760" cy="6858000"/>
          </a:xfrm>
          <a:prstGeom prst="rect">
            <a:avLst/>
          </a:prstGeom>
          <a:solidFill>
            <a:srgbClr val="245ED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t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7008" y="420624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60">
                <a:solidFill>
                  <a:srgbClr val="FFFFFF"/>
                </a:solidFill>
                <a:latin typeface="Arial"/>
              </a:rPr>
              <a:t>UNIVERSITAS TEKNOLOGI YOGYAKARTA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860804" cy="457200"/>
          </a:xfrm>
          <a:prstGeom prst="roundRect">
            <a:avLst>
              <a:gd name="adj" fmla="val 50000"/>
            </a:avLst>
          </a:prstGeom>
          <a:solidFill>
            <a:srgbClr val="493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8608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spc="30">
                <a:solidFill>
                  <a:srgbClr val="FFFFFF"/>
                </a:solidFill>
                <a:latin typeface="Arial"/>
              </a:rPr>
              <a:t>INTI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4160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>
                <a:solidFill>
                  <a:srgbClr val="FFFFFF"/>
                </a:solidFill>
                <a:latin typeface="Arial Black"/>
              </a:rPr>
              <a:t>ALGORITMA</a:t>
            </a:r>
          </a:p>
          <a:p>
            <a:pPr algn="l">
              <a:spcBef>
                <a:spcPts val="0"/>
              </a:spcBef>
            </a:pPr>
            <a:r>
              <a:rPr sz="5000" b="1">
                <a:solidFill>
                  <a:srgbClr val="FFFFFF"/>
                </a:solidFill>
                <a:latin typeface="Arial Black"/>
              </a:rPr>
              <a:t>SPI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" y="4526280"/>
            <a:ext cx="457200" cy="457200"/>
          </a:xfrm>
          <a:prstGeom prst="chevron">
            <a:avLst/>
          </a:prstGeom>
          <a:solidFill>
            <a:srgbClr val="35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841248" y="4526280"/>
            <a:ext cx="457200" cy="457200"/>
          </a:xfrm>
          <a:prstGeom prst="chevron">
            <a:avLst/>
          </a:prstGeom>
          <a:solidFill>
            <a:srgbClr val="35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B9C6E0"/>
                </a:solidFill>
                <a:latin typeface="Calibri"/>
              </a:rPr>
              <a:t>Schedule Performance Index — satu angka objektif yang menggerakkan seluruh Early Warning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1335024"/>
            <a:ext cx="6766560" cy="4480560"/>
          </a:xfrm>
          <a:prstGeom prst="roundRect">
            <a:avLst>
              <a:gd name="adj" fmla="val 4500"/>
            </a:avLst>
          </a:prstGeom>
          <a:solidFill>
            <a:srgbClr val="00000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92040" y="1234440"/>
            <a:ext cx="676656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52704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40">
                <a:solidFill>
                  <a:srgbClr val="245ED6"/>
                </a:solidFill>
                <a:latin typeface="Arial"/>
              </a:rPr>
              <a:t>RUMUS INTI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1947672"/>
            <a:ext cx="5943600" cy="960120"/>
          </a:xfrm>
          <a:prstGeom prst="roundRect">
            <a:avLst>
              <a:gd name="adj" fmla="val 12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947672"/>
            <a:ext cx="5943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122240"/>
                </a:solidFill>
                <a:latin typeface="Arial Black"/>
              </a:rPr>
              <a:t>SPI  =  EV  /  PV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108960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9E57"/>
                </a:solidFill>
                <a:latin typeface="Calibri"/>
              </a:rPr>
              <a:t>EV</a:t>
            </a:r>
            <a:r>
              <a:rPr sz="1500" b="0">
                <a:solidFill>
                  <a:srgbClr val="3A475E"/>
                </a:solidFill>
                <a:latin typeface="Calibri"/>
              </a:rPr>
              <a:t>  Earned Value  —  % pekerjaan yang </a:t>
            </a:r>
            <a:r>
              <a:rPr sz="1500" b="1">
                <a:solidFill>
                  <a:srgbClr val="122240"/>
                </a:solidFill>
                <a:latin typeface="Calibri"/>
              </a:rPr>
              <a:t>benar-benar selesai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611880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45ED6"/>
                </a:solidFill>
                <a:latin typeface="Calibri"/>
              </a:rPr>
              <a:t>PV</a:t>
            </a:r>
            <a:r>
              <a:rPr sz="1500" b="0">
                <a:solidFill>
                  <a:srgbClr val="3A475E"/>
                </a:solidFill>
                <a:latin typeface="Calibri"/>
              </a:rPr>
              <a:t>  Planned Value  —  % yang </a:t>
            </a:r>
            <a:r>
              <a:rPr sz="1500" b="1">
                <a:solidFill>
                  <a:srgbClr val="122240"/>
                </a:solidFill>
                <a:latin typeface="Calibri"/>
              </a:rPr>
              <a:t>seharusnya</a:t>
            </a:r>
            <a:r>
              <a:rPr sz="1500" b="0">
                <a:solidFill>
                  <a:srgbClr val="3A475E"/>
                </a:solidFill>
                <a:latin typeface="Calibri"/>
              </a:rPr>
              <a:t>  selesai = (hari berjalan / total durasi) × 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4315968"/>
            <a:ext cx="5943600" cy="10972"/>
          </a:xfrm>
          <a:prstGeom prst="rect">
            <a:avLst/>
          </a:prstGeom>
          <a:solidFill>
            <a:srgbClr val="DD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03520" y="4480560"/>
            <a:ext cx="1859280" cy="566928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4480560"/>
            <a:ext cx="185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9E57"/>
                </a:solidFill>
                <a:latin typeface="Calibri"/>
              </a:rPr>
              <a:t>SPI = 1  ·  tepat jadwal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5680" y="4480560"/>
            <a:ext cx="1859280" cy="566928"/>
          </a:xfrm>
          <a:prstGeom prst="roundRect">
            <a:avLst>
              <a:gd name="adj" fmla="val 50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5680" y="4480560"/>
            <a:ext cx="185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45ED6"/>
                </a:solidFill>
                <a:latin typeface="Calibri"/>
              </a:rPr>
              <a:t>SPI &gt; 1  ·  lebih cepat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87840" y="4480560"/>
            <a:ext cx="1859280" cy="566928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7840" y="4480560"/>
            <a:ext cx="185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33A2C"/>
                </a:solidFill>
                <a:latin typeface="Calibri"/>
              </a:rPr>
              <a:t>SPI &lt; 1  ·  terlambat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926080" y="-3291840"/>
            <a:ext cx="7772400" cy="7772400"/>
          </a:xfrm>
          <a:prstGeom prst="ellipse">
            <a:avLst/>
          </a:prstGeom>
          <a:solidFill>
            <a:srgbClr val="1B367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2D5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0"/>
            <a:ext cx="365760" cy="6858000"/>
          </a:xfrm>
          <a:prstGeom prst="rect">
            <a:avLst/>
          </a:prstGeom>
          <a:solidFill>
            <a:srgbClr val="245ED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t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7008" y="420624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60">
                <a:solidFill>
                  <a:srgbClr val="FFFFFF"/>
                </a:solidFill>
                <a:latin typeface="Arial"/>
              </a:rPr>
              <a:t>UNIVERSITAS TEKNOLOGI YOGYAKARTA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613916" cy="457200"/>
          </a:xfrm>
          <a:prstGeom prst="roundRect">
            <a:avLst>
              <a:gd name="adj" fmla="val 50000"/>
            </a:avLst>
          </a:prstGeom>
          <a:solidFill>
            <a:srgbClr val="493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61391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spc="30">
                <a:solidFill>
                  <a:srgbClr val="FFFFFF"/>
                </a:solidFill>
                <a:latin typeface="Arial"/>
              </a:rPr>
              <a:t>INDIKATOR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4160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>
                <a:solidFill>
                  <a:srgbClr val="FFFFFF"/>
                </a:solidFill>
                <a:latin typeface="Arial Black"/>
              </a:rPr>
              <a:t>WARNA</a:t>
            </a:r>
          </a:p>
          <a:p>
            <a:pPr algn="l">
              <a:spcBef>
                <a:spcPts val="0"/>
              </a:spcBef>
            </a:pPr>
            <a:r>
              <a:rPr sz="5000" b="1">
                <a:solidFill>
                  <a:srgbClr val="FFFFFF"/>
                </a:solidFill>
                <a:latin typeface="Arial Black"/>
              </a:rPr>
              <a:t>RAG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" y="4526280"/>
            <a:ext cx="457200" cy="457200"/>
          </a:xfrm>
          <a:prstGeom prst="chevron">
            <a:avLst/>
          </a:prstGeom>
          <a:solidFill>
            <a:srgbClr val="35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841248" y="4526280"/>
            <a:ext cx="457200" cy="457200"/>
          </a:xfrm>
          <a:prstGeom prst="chevron">
            <a:avLst/>
          </a:prstGeom>
          <a:solidFill>
            <a:srgbClr val="35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B9C6E0"/>
                </a:solidFill>
                <a:latin typeface="Calibri"/>
              </a:rPr>
              <a:t>Tiga warna kesehatan proyek. SPI diubah jadi warna supaya manajer paham dalam sekejap.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1335024"/>
            <a:ext cx="6766560" cy="4480560"/>
          </a:xfrm>
          <a:prstGeom prst="roundRect">
            <a:avLst>
              <a:gd name="adj" fmla="val 4500"/>
            </a:avLst>
          </a:prstGeom>
          <a:solidFill>
            <a:srgbClr val="00000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92040" y="1234440"/>
            <a:ext cx="676656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1508760"/>
            <a:ext cx="5998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40">
                <a:solidFill>
                  <a:srgbClr val="245ED6"/>
                </a:solidFill>
                <a:latin typeface="Arial"/>
              </a:rPr>
              <a:t>AMBANG BATAS (RAG)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76088" y="1984248"/>
            <a:ext cx="5998464" cy="841248"/>
          </a:xfrm>
          <a:prstGeom prst="roundRect">
            <a:avLst>
              <a:gd name="adj" fmla="val 14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13831" y="2267712"/>
            <a:ext cx="274320" cy="27432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34455" y="1984248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9E57"/>
                </a:solidFill>
                <a:latin typeface="Arial Black"/>
              </a:rPr>
              <a:t>HIJAU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210312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2240"/>
                </a:solidFill>
                <a:latin typeface="Consolas"/>
              </a:rPr>
              <a:t>SPI ≥ 0,95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1984248"/>
            <a:ext cx="160934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75E"/>
                </a:solidFill>
                <a:latin typeface="Calibri"/>
              </a:rPr>
              <a:t>Sesuai jadwal (on track)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76088" y="2916936"/>
            <a:ext cx="5998464" cy="841248"/>
          </a:xfrm>
          <a:prstGeom prst="roundRect">
            <a:avLst>
              <a:gd name="adj" fmla="val 14000"/>
            </a:avLst>
          </a:prstGeom>
          <a:solidFill>
            <a:srgbClr val="FB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13831" y="3200400"/>
            <a:ext cx="274320" cy="274320"/>
          </a:xfrm>
          <a:prstGeom prst="ellipse">
            <a:avLst/>
          </a:prstGeom>
          <a:solidFill>
            <a:srgbClr val="C6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34455" y="2916936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C68600"/>
                </a:solidFill>
                <a:latin typeface="Arial Black"/>
              </a:rPr>
              <a:t>KUNING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3035808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2240"/>
                </a:solidFill>
                <a:latin typeface="Consolas"/>
              </a:rPr>
              <a:t>0,85 – 0,95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2916936"/>
            <a:ext cx="160934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75E"/>
                </a:solidFill>
                <a:latin typeface="Calibri"/>
              </a:rPr>
              <a:t>Perlu perhatian (warning)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76088" y="3849624"/>
            <a:ext cx="5998464" cy="841248"/>
          </a:xfrm>
          <a:prstGeom prst="roundRect">
            <a:avLst>
              <a:gd name="adj" fmla="val 14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513831" y="4133087"/>
            <a:ext cx="274320" cy="274320"/>
          </a:xfrm>
          <a:prstGeom prst="ellipse">
            <a:avLst/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34455" y="3849624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D33A2C"/>
                </a:solidFill>
                <a:latin typeface="Arial Black"/>
              </a:rPr>
              <a:t>MERAH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396849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2240"/>
                </a:solidFill>
                <a:latin typeface="Consolas"/>
              </a:rPr>
              <a:t>SPI &lt; 0,85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8" y="3849624"/>
            <a:ext cx="160934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75E"/>
                </a:solidFill>
                <a:latin typeface="Calibri"/>
              </a:rPr>
              <a:t>Kritis — tertinggal jadwal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6088" y="4910328"/>
            <a:ext cx="59984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6AC"/>
                </a:solidFill>
                <a:latin typeface="Calibri"/>
              </a:rPr>
              <a:t>CONTOH — Villa Kaliurang, 6 tugas (tandai “Selesai” satu per satu):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76088" y="5276088"/>
            <a:ext cx="1078992" cy="457200"/>
          </a:xfrm>
          <a:prstGeom prst="roundRect">
            <a:avLst>
              <a:gd name="adj" fmla="val 4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76088" y="527608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33A2C"/>
                </a:solidFill>
                <a:latin typeface="Consolas"/>
              </a:rPr>
              <a:t>1 → 0,22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01383" y="5276088"/>
            <a:ext cx="1078992" cy="457200"/>
          </a:xfrm>
          <a:prstGeom prst="roundRect">
            <a:avLst>
              <a:gd name="adj" fmla="val 4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1383" y="527608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33A2C"/>
                </a:solidFill>
                <a:latin typeface="Consolas"/>
              </a:rPr>
              <a:t>3 → 0,67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5276088"/>
            <a:ext cx="1078992" cy="457200"/>
          </a:xfrm>
          <a:prstGeom prst="roundRect">
            <a:avLst>
              <a:gd name="adj" fmla="val 40000"/>
            </a:avLst>
          </a:prstGeom>
          <a:solidFill>
            <a:srgbClr val="FB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527608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C68600"/>
                </a:solidFill>
                <a:latin typeface="Consolas"/>
              </a:rPr>
              <a:t>4 → 0,89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51976" y="5276088"/>
            <a:ext cx="1078992" cy="457200"/>
          </a:xfrm>
          <a:prstGeom prst="roundRect">
            <a:avLst>
              <a:gd name="adj" fmla="val 40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51976" y="527608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9E57"/>
                </a:solidFill>
                <a:latin typeface="Consolas"/>
              </a:rPr>
              <a:t>5 → 1,11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77272" y="5276088"/>
            <a:ext cx="1078992" cy="457200"/>
          </a:xfrm>
          <a:prstGeom prst="roundRect">
            <a:avLst>
              <a:gd name="adj" fmla="val 40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77272" y="527608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9E57"/>
                </a:solidFill>
                <a:latin typeface="Consolas"/>
              </a:rPr>
              <a:t>6 → 1,33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926080" y="-3291840"/>
            <a:ext cx="7772400" cy="7772400"/>
          </a:xfrm>
          <a:prstGeom prst="ellipse">
            <a:avLst/>
          </a:prstGeom>
          <a:solidFill>
            <a:srgbClr val="1B367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2D5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0"/>
            <a:ext cx="365760" cy="6858000"/>
          </a:xfrm>
          <a:prstGeom prst="rect">
            <a:avLst/>
          </a:prstGeom>
          <a:solidFill>
            <a:srgbClr val="245ED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t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7008" y="420624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60">
                <a:solidFill>
                  <a:srgbClr val="FFFFFF"/>
                </a:solidFill>
                <a:latin typeface="Arial"/>
              </a:rPr>
              <a:t>UNIVERSITAS TEKNOLOGI YOGYAKARTA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490472" cy="457200"/>
          </a:xfrm>
          <a:prstGeom prst="roundRect">
            <a:avLst>
              <a:gd name="adj" fmla="val 50000"/>
            </a:avLst>
          </a:prstGeom>
          <a:solidFill>
            <a:srgbClr val="493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490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spc="30">
                <a:solidFill>
                  <a:srgbClr val="FFFFFF"/>
                </a:solidFill>
                <a:latin typeface="Arial"/>
              </a:rPr>
              <a:t>OTOMATIS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4160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>
                <a:solidFill>
                  <a:srgbClr val="FFFFFF"/>
                </a:solidFill>
                <a:latin typeface="Arial Black"/>
              </a:rPr>
              <a:t>ALUR</a:t>
            </a:r>
          </a:p>
          <a:p>
            <a:pPr algn="l">
              <a:spcBef>
                <a:spcPts val="0"/>
              </a:spcBef>
            </a:pPr>
            <a:r>
              <a:rPr sz="5000" b="1">
                <a:solidFill>
                  <a:srgbClr val="FFFFFF"/>
                </a:solidFill>
                <a:latin typeface="Arial Black"/>
              </a:rPr>
              <a:t>EWS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" y="4526280"/>
            <a:ext cx="457200" cy="457200"/>
          </a:xfrm>
          <a:prstGeom prst="chevron">
            <a:avLst/>
          </a:prstGeom>
          <a:solidFill>
            <a:srgbClr val="35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841248" y="4526280"/>
            <a:ext cx="457200" cy="457200"/>
          </a:xfrm>
          <a:prstGeom prst="chevron">
            <a:avLst/>
          </a:prstGeom>
          <a:solidFill>
            <a:srgbClr val="35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B9C6E0"/>
                </a:solidFill>
                <a:latin typeface="Calibri"/>
              </a:rPr>
              <a:t>Setiap status tugas berubah, SPI dihitung ulang otomatis — tanpa input manual.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1197864"/>
            <a:ext cx="6766560" cy="4754880"/>
          </a:xfrm>
          <a:prstGeom prst="roundRect">
            <a:avLst>
              <a:gd name="adj" fmla="val 4500"/>
            </a:avLst>
          </a:prstGeom>
          <a:solidFill>
            <a:srgbClr val="00000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92040" y="1097280"/>
            <a:ext cx="6766560" cy="4754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335024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40">
                <a:solidFill>
                  <a:srgbClr val="245ED6"/>
                </a:solidFill>
                <a:latin typeface="Arial"/>
              </a:rPr>
              <a:t>ALUR OTOMATIS (8 LANGKAH)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773936"/>
            <a:ext cx="1357884" cy="841248"/>
          </a:xfrm>
          <a:prstGeom prst="roundRect">
            <a:avLst>
              <a:gd name="adj" fmla="val 16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76672" y="1892807"/>
            <a:ext cx="310896" cy="310896"/>
          </a:xfrm>
          <a:prstGeom prst="ellipse">
            <a:avLst/>
          </a:prstGeom>
          <a:solidFill>
            <a:srgbClr val="24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18928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9864" y="1883664"/>
            <a:ext cx="7543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22240"/>
                </a:solidFill>
                <a:latin typeface="Calibri"/>
              </a:rPr>
              <a:t>Status tugas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9864" y="2231136"/>
            <a:ext cx="7543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6AC"/>
                </a:solidFill>
                <a:latin typeface="Consolas"/>
              </a:rPr>
              <a:t>berubah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7396" y="1773936"/>
            <a:ext cx="21945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45ED6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6852" y="1773936"/>
            <a:ext cx="1357884" cy="841248"/>
          </a:xfrm>
          <a:prstGeom prst="roundRect">
            <a:avLst>
              <a:gd name="adj" fmla="val 16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35724" y="1892807"/>
            <a:ext cx="310896" cy="310896"/>
          </a:xfrm>
          <a:prstGeom prst="ellipse">
            <a:avLst/>
          </a:prstGeom>
          <a:solidFill>
            <a:srgbClr val="24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5724" y="18928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8916" y="1883664"/>
            <a:ext cx="7543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22240"/>
                </a:solidFill>
                <a:latin typeface="Calibri"/>
              </a:rPr>
              <a:t>Hitung ulang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8916" y="2231136"/>
            <a:ext cx="7543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6AC"/>
                </a:solidFill>
                <a:latin typeface="Consolas"/>
              </a:rPr>
              <a:t>recalculateSPI()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1773936"/>
            <a:ext cx="21945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45ED6"/>
                </a:solidFill>
                <a:latin typeface="Arial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75904" y="1773936"/>
            <a:ext cx="1357884" cy="841248"/>
          </a:xfrm>
          <a:prstGeom prst="roundRect">
            <a:avLst>
              <a:gd name="adj" fmla="val 16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94776" y="1892807"/>
            <a:ext cx="310896" cy="310896"/>
          </a:xfrm>
          <a:prstGeom prst="ellipse">
            <a:avLst/>
          </a:prstGeom>
          <a:solidFill>
            <a:srgbClr val="24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94776" y="18928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1883664"/>
            <a:ext cx="7543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22240"/>
                </a:solidFill>
                <a:latin typeface="Calibri"/>
              </a:rPr>
              <a:t>Hitung EV &amp; PV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2231136"/>
            <a:ext cx="7543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6AC"/>
                </a:solidFill>
                <a:latin typeface="Consolas"/>
              </a:rPr>
              <a:t>selesai / 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0" y="1773936"/>
            <a:ext cx="21945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45ED6"/>
                </a:solidFill>
                <a:latin typeface="Arial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34956" y="1773936"/>
            <a:ext cx="1357884" cy="841248"/>
          </a:xfrm>
          <a:prstGeom prst="roundRect">
            <a:avLst>
              <a:gd name="adj" fmla="val 16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053828" y="1892807"/>
            <a:ext cx="310896" cy="310896"/>
          </a:xfrm>
          <a:prstGeom prst="ellipse">
            <a:avLst/>
          </a:prstGeom>
          <a:solidFill>
            <a:srgbClr val="24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3828" y="18928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47020" y="1883664"/>
            <a:ext cx="7543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22240"/>
                </a:solidFill>
                <a:latin typeface="Calibri"/>
              </a:rPr>
              <a:t>SPI = EV / PV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47020" y="2231136"/>
            <a:ext cx="7543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6AC"/>
                </a:solidFill>
                <a:latin typeface="Consolas"/>
              </a:rPr>
              <a:t>rasio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800" y="2798064"/>
            <a:ext cx="1357884" cy="841248"/>
          </a:xfrm>
          <a:prstGeom prst="roundRect">
            <a:avLst>
              <a:gd name="adj" fmla="val 16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376672" y="2916936"/>
            <a:ext cx="310896" cy="310896"/>
          </a:xfrm>
          <a:prstGeom prst="ellipse">
            <a:avLst/>
          </a:prstGeom>
          <a:solidFill>
            <a:srgbClr val="24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76672" y="29169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9864" y="2907792"/>
            <a:ext cx="7543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22240"/>
                </a:solidFill>
                <a:latin typeface="Calibri"/>
              </a:rPr>
              <a:t>SPI jadi warna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9864" y="3255264"/>
            <a:ext cx="7543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6AC"/>
                </a:solidFill>
                <a:latin typeface="Consolas"/>
              </a:rPr>
              <a:t>categorizeHealth()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97396" y="2798064"/>
            <a:ext cx="21945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45ED6"/>
                </a:solidFill>
                <a:latin typeface="Arial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16852" y="2798064"/>
            <a:ext cx="1357884" cy="841248"/>
          </a:xfrm>
          <a:prstGeom prst="roundRect">
            <a:avLst>
              <a:gd name="adj" fmla="val 16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35724" y="2916936"/>
            <a:ext cx="310896" cy="310896"/>
          </a:xfrm>
          <a:prstGeom prst="ellipse">
            <a:avLst/>
          </a:prstGeom>
          <a:solidFill>
            <a:srgbClr val="24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35724" y="29169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28916" y="2907792"/>
            <a:ext cx="7543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22240"/>
                </a:solidFill>
                <a:latin typeface="Calibri"/>
              </a:rPr>
              <a:t>Simpan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28916" y="3255264"/>
            <a:ext cx="7543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6AC"/>
                </a:solidFill>
                <a:latin typeface="Consolas"/>
              </a:rPr>
              <a:t>project_health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56448" y="2798064"/>
            <a:ext cx="21945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45ED6"/>
                </a:solidFill>
                <a:latin typeface="Arial"/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75904" y="2798064"/>
            <a:ext cx="1357884" cy="841248"/>
          </a:xfrm>
          <a:prstGeom prst="roundRect">
            <a:avLst>
              <a:gd name="adj" fmla="val 16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494776" y="2916936"/>
            <a:ext cx="310896" cy="310896"/>
          </a:xfrm>
          <a:prstGeom prst="ellipse">
            <a:avLst/>
          </a:prstGeom>
          <a:solidFill>
            <a:srgbClr val="24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94776" y="29169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87968" y="2907792"/>
            <a:ext cx="7543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22240"/>
                </a:solidFill>
                <a:latin typeface="Calibri"/>
              </a:rPr>
              <a:t>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87968" y="3255264"/>
            <a:ext cx="7543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6AC"/>
                </a:solidFill>
                <a:latin typeface="Consolas"/>
              </a:rPr>
              <a:t>merah teratas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15500" y="2798064"/>
            <a:ext cx="21945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45ED6"/>
                </a:solidFill>
                <a:latin typeface="Arial"/>
              </a:rPr>
              <a:t>›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34956" y="2798064"/>
            <a:ext cx="1357884" cy="841248"/>
          </a:xfrm>
          <a:prstGeom prst="roundRect">
            <a:avLst>
              <a:gd name="adj" fmla="val 16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53828" y="2916936"/>
            <a:ext cx="310896" cy="310896"/>
          </a:xfrm>
          <a:prstGeom prst="ellipse">
            <a:avLst/>
          </a:prstGeom>
          <a:solidFill>
            <a:srgbClr val="24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3828" y="29169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47020" y="2907792"/>
            <a:ext cx="7543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22240"/>
                </a:solidFill>
                <a:latin typeface="Calibri"/>
              </a:rPr>
              <a:t>Manajer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47020" y="3255264"/>
            <a:ext cx="7543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6AC"/>
                </a:solidFill>
                <a:latin typeface="Consolas"/>
              </a:rPr>
              <a:t>bertindak → dini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57800" y="4014216"/>
            <a:ext cx="6035040" cy="10972"/>
          </a:xfrm>
          <a:prstGeom prst="rect">
            <a:avLst/>
          </a:prstGeom>
          <a:solidFill>
            <a:srgbClr val="DD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57800" y="4123944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">
                <a:solidFill>
                  <a:srgbClr val="122240"/>
                </a:solidFill>
                <a:latin typeface="Arial"/>
              </a:rPr>
              <a:t>3 LAPIS PERINGATAN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257800" y="4489704"/>
            <a:ext cx="1889760" cy="603504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04104" y="4489704"/>
            <a:ext cx="1615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240"/>
                </a:solidFill>
                <a:latin typeface="Calibri"/>
              </a:rPr>
              <a:t>Warna RAG  </a:t>
            </a:r>
            <a:r>
              <a:rPr sz="1200" b="0">
                <a:solidFill>
                  <a:srgbClr val="8A96AC"/>
                </a:solidFill>
                <a:latin typeface="Calibri"/>
              </a:rPr>
              <a:t>per proyek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30440" y="4489704"/>
            <a:ext cx="1889760" cy="603504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76744" y="4489704"/>
            <a:ext cx="1615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240"/>
                </a:solidFill>
                <a:latin typeface="Calibri"/>
              </a:rPr>
              <a:t>Urut kritis  </a:t>
            </a:r>
            <a:r>
              <a:rPr sz="1200" b="0">
                <a:solidFill>
                  <a:srgbClr val="8A96AC"/>
                </a:solidFill>
                <a:latin typeface="Calibri"/>
              </a:rPr>
              <a:t>merah di atas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403080" y="4489704"/>
            <a:ext cx="1889760" cy="603504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49384" y="4489704"/>
            <a:ext cx="1615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240"/>
                </a:solidFill>
                <a:latin typeface="Calibri"/>
              </a:rPr>
              <a:t>Ringkasan  </a:t>
            </a:r>
            <a:r>
              <a:rPr sz="1200" b="0">
                <a:solidFill>
                  <a:srgbClr val="8A96AC"/>
                </a:solidFill>
                <a:latin typeface="Calibri"/>
              </a:rPr>
              <a:t>jumlah R/A/G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